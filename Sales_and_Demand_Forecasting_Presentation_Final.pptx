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1AE967-FF33-47B7-A906-4C876100EA1E}" v="1" dt="2026-09-26T04:40:32.747"/>
  </p1510:revLst>
</p1510:revInfo>
</file>

<file path=ppt/tableStyles.xml><?xml version="1.0" encoding="utf-8"?>
<a:tblStyleLst xmlns:a="http://schemas.openxmlformats.org/drawingml/2006/main" def="{DACFCA41-7221-4674-B144-DCA2F1B7582E}">
  <a:tblStyle styleId="{DACFCA41-7221-4674-B144-DCA2F1B7582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ppy Dedha" userId="000df637405e1e22" providerId="LiveId" clId="{A0888B77-9E65-4872-9C66-9BDD8D59237F}"/>
    <pc:docChg chg="custSel modSld">
      <pc:chgData name="Happy Dedha" userId="000df637405e1e22" providerId="LiveId" clId="{A0888B77-9E65-4872-9C66-9BDD8D59237F}" dt="2026-09-26T05:02:18.875" v="46" actId="1035"/>
      <pc:docMkLst>
        <pc:docMk/>
      </pc:docMkLst>
      <pc:sldChg chg="modSp mod">
        <pc:chgData name="Happy Dedha" userId="000df637405e1e22" providerId="LiveId" clId="{A0888B77-9E65-4872-9C66-9BDD8D59237F}" dt="2026-09-26T04:40:42.110" v="40" actId="20577"/>
        <pc:sldMkLst>
          <pc:docMk/>
          <pc:sldMk cId="1951326981" sldId="256"/>
        </pc:sldMkLst>
        <pc:spChg chg="mod">
          <ac:chgData name="Happy Dedha" userId="000df637405e1e22" providerId="LiveId" clId="{A0888B77-9E65-4872-9C66-9BDD8D59237F}" dt="2026-09-26T04:40:32.787" v="1" actId="27636"/>
          <ac:spMkLst>
            <pc:docMk/>
            <pc:sldMk cId="1951326981" sldId="256"/>
            <ac:spMk id="20" creationId="{BD7BFF52-2A51-40EF-895F-88CD19A55D72}"/>
          </ac:spMkLst>
        </pc:spChg>
        <pc:spChg chg="mod">
          <ac:chgData name="Happy Dedha" userId="000df637405e1e22" providerId="LiveId" clId="{A0888B77-9E65-4872-9C66-9BDD8D59237F}" dt="2026-09-26T04:40:35.303" v="27" actId="1076"/>
          <ac:spMkLst>
            <pc:docMk/>
            <pc:sldMk cId="1951326981" sldId="256"/>
            <ac:spMk id="26" creationId="{4AADCE93-4BF6-41A4-BBA6-D2489C9AE5E8}"/>
          </ac:spMkLst>
        </pc:spChg>
        <pc:spChg chg="mod">
          <ac:chgData name="Happy Dedha" userId="000df637405e1e22" providerId="LiveId" clId="{A0888B77-9E65-4872-9C66-9BDD8D59237F}" dt="2026-09-26T04:40:42.110" v="40" actId="20577"/>
          <ac:spMkLst>
            <pc:docMk/>
            <pc:sldMk cId="1951326981" sldId="256"/>
            <ac:spMk id="27" creationId="{FC10612E-EB41-4745-8F85-00B519F4E43D}"/>
          </ac:spMkLst>
        </pc:spChg>
      </pc:sldChg>
      <pc:sldChg chg="modSp mod">
        <pc:chgData name="Happy Dedha" userId="000df637405e1e22" providerId="LiveId" clId="{A0888B77-9E65-4872-9C66-9BDD8D59237F}" dt="2026-09-26T05:02:18.875" v="46" actId="1035"/>
        <pc:sldMkLst>
          <pc:docMk/>
          <pc:sldMk cId="2084523168" sldId="260"/>
        </pc:sldMkLst>
        <pc:spChg chg="mod">
          <ac:chgData name="Happy Dedha" userId="000df637405e1e22" providerId="LiveId" clId="{A0888B77-9E65-4872-9C66-9BDD8D59237F}" dt="2026-09-26T05:02:18.875" v="46" actId="1035"/>
          <ac:spMkLst>
            <pc:docMk/>
            <pc:sldMk cId="2084523168" sldId="260"/>
            <ac:spMk id="115" creationId="{72C37479-47CF-450D-9203-48AC4E2DF7DF}"/>
          </ac:spMkLst>
        </pc:spChg>
        <pc:spChg chg="mod">
          <ac:chgData name="Happy Dedha" userId="000df637405e1e22" providerId="LiveId" clId="{A0888B77-9E65-4872-9C66-9BDD8D59237F}" dt="2026-09-26T04:40:32.838" v="11" actId="27636"/>
          <ac:spMkLst>
            <pc:docMk/>
            <pc:sldMk cId="2084523168" sldId="260"/>
            <ac:spMk id="119" creationId="{F46544D0-7BFA-4DD7-BDC9-58E4E51B4C54}"/>
          </ac:spMkLst>
        </pc:spChg>
        <pc:spChg chg="mod">
          <ac:chgData name="Happy Dedha" userId="000df637405e1e22" providerId="LiveId" clId="{A0888B77-9E65-4872-9C66-9BDD8D59237F}" dt="2026-09-26T04:40:32.845" v="13" actId="27636"/>
          <ac:spMkLst>
            <pc:docMk/>
            <pc:sldMk cId="2084523168" sldId="260"/>
            <ac:spMk id="120" creationId="{DD2CF3F9-3CD4-466C-8552-BAC493BF3C84}"/>
          </ac:spMkLst>
        </pc:spChg>
        <pc:spChg chg="mod">
          <ac:chgData name="Happy Dedha" userId="000df637405e1e22" providerId="LiveId" clId="{A0888B77-9E65-4872-9C66-9BDD8D59237F}" dt="2026-09-26T04:40:32.861" v="16" actId="27636"/>
          <ac:spMkLst>
            <pc:docMk/>
            <pc:sldMk cId="2084523168" sldId="260"/>
            <ac:spMk id="122" creationId="{1F8BBF0F-1AC3-414A-8FA1-AE8E4AF723A8}"/>
          </ac:spMkLst>
        </pc:spChg>
        <pc:spChg chg="mod">
          <ac:chgData name="Happy Dedha" userId="000df637405e1e22" providerId="LiveId" clId="{A0888B77-9E65-4872-9C66-9BDD8D59237F}" dt="2026-09-26T04:40:32.832" v="9" actId="27636"/>
          <ac:spMkLst>
            <pc:docMk/>
            <pc:sldMk cId="2084523168" sldId="260"/>
            <ac:spMk id="123" creationId="{ABABB7B3-5738-4590-8ACE-12A8DE371FDA}"/>
          </ac:spMkLst>
        </pc:spChg>
        <pc:spChg chg="mod">
          <ac:chgData name="Happy Dedha" userId="000df637405e1e22" providerId="LiveId" clId="{A0888B77-9E65-4872-9C66-9BDD8D59237F}" dt="2026-09-26T04:40:32.828" v="8" actId="27636"/>
          <ac:spMkLst>
            <pc:docMk/>
            <pc:sldMk cId="2084523168" sldId="260"/>
            <ac:spMk id="125" creationId="{7D3F17D1-D85B-4A6E-92FA-239C6EE0E620}"/>
          </ac:spMkLst>
        </pc:spChg>
        <pc:spChg chg="mod">
          <ac:chgData name="Happy Dedha" userId="000df637405e1e22" providerId="LiveId" clId="{A0888B77-9E65-4872-9C66-9BDD8D59237F}" dt="2026-09-26T04:40:32.858" v="15" actId="27636"/>
          <ac:spMkLst>
            <pc:docMk/>
            <pc:sldMk cId="2084523168" sldId="260"/>
            <ac:spMk id="126" creationId="{0C7F6F09-1BFC-4E32-B15C-90B3015EF970}"/>
          </ac:spMkLst>
        </pc:spChg>
        <pc:spChg chg="mod">
          <ac:chgData name="Happy Dedha" userId="000df637405e1e22" providerId="LiveId" clId="{A0888B77-9E65-4872-9C66-9BDD8D59237F}" dt="2026-09-26T04:40:32.838" v="10" actId="27636"/>
          <ac:spMkLst>
            <pc:docMk/>
            <pc:sldMk cId="2084523168" sldId="260"/>
            <ac:spMk id="127" creationId="{8A6C0E18-1DDE-48E7-8F16-15DFD76F9A52}"/>
          </ac:spMkLst>
        </pc:spChg>
        <pc:spChg chg="mod">
          <ac:chgData name="Happy Dedha" userId="000df637405e1e22" providerId="LiveId" clId="{A0888B77-9E65-4872-9C66-9BDD8D59237F}" dt="2026-09-26T04:40:32.869" v="18" actId="27636"/>
          <ac:spMkLst>
            <pc:docMk/>
            <pc:sldMk cId="2084523168" sldId="260"/>
            <ac:spMk id="129" creationId="{9A24C4E8-70BA-4FC1-ACA8-E9CE63934A2A}"/>
          </ac:spMkLst>
        </pc:spChg>
        <pc:spChg chg="mod">
          <ac:chgData name="Happy Dedha" userId="000df637405e1e22" providerId="LiveId" clId="{A0888B77-9E65-4872-9C66-9BDD8D59237F}" dt="2026-09-26T04:40:32.803" v="2" actId="27636"/>
          <ac:spMkLst>
            <pc:docMk/>
            <pc:sldMk cId="2084523168" sldId="260"/>
            <ac:spMk id="132" creationId="{34EA6C7A-0F0F-491C-85A7-3B9058749110}"/>
          </ac:spMkLst>
        </pc:spChg>
        <pc:spChg chg="mod">
          <ac:chgData name="Happy Dedha" userId="000df637405e1e22" providerId="LiveId" clId="{A0888B77-9E65-4872-9C66-9BDD8D59237F}" dt="2026-09-26T04:40:32.822" v="6" actId="27636"/>
          <ac:spMkLst>
            <pc:docMk/>
            <pc:sldMk cId="2084523168" sldId="260"/>
            <ac:spMk id="135" creationId="{D07CD4D9-D80C-435E-BDE1-487D8E741BA2}"/>
          </ac:spMkLst>
        </pc:spChg>
        <pc:spChg chg="mod">
          <ac:chgData name="Happy Dedha" userId="000df637405e1e22" providerId="LiveId" clId="{A0888B77-9E65-4872-9C66-9BDD8D59237F}" dt="2026-09-26T04:40:32.818" v="5" actId="27636"/>
          <ac:spMkLst>
            <pc:docMk/>
            <pc:sldMk cId="2084523168" sldId="260"/>
            <ac:spMk id="138" creationId="{ACF22085-A5FC-4CBC-9D5D-C128F2F47365}"/>
          </ac:spMkLst>
        </pc:spChg>
        <pc:spChg chg="mod">
          <ac:chgData name="Happy Dedha" userId="000df637405e1e22" providerId="LiveId" clId="{A0888B77-9E65-4872-9C66-9BDD8D59237F}" dt="2026-09-26T04:40:32.825" v="7" actId="27636"/>
          <ac:spMkLst>
            <pc:docMk/>
            <pc:sldMk cId="2084523168" sldId="260"/>
            <ac:spMk id="141" creationId="{4CF77904-4343-4BCC-81C4-2816CD50F7A4}"/>
          </ac:spMkLst>
        </pc:spChg>
        <pc:spChg chg="mod">
          <ac:chgData name="Happy Dedha" userId="000df637405e1e22" providerId="LiveId" clId="{A0888B77-9E65-4872-9C66-9BDD8D59237F}" dt="2026-09-26T04:40:32.813" v="4" actId="27636"/>
          <ac:spMkLst>
            <pc:docMk/>
            <pc:sldMk cId="2084523168" sldId="260"/>
            <ac:spMk id="144" creationId="{CBE73552-D0A6-4C55-B3C9-3F57B9562E00}"/>
          </ac:spMkLst>
        </pc:spChg>
        <pc:spChg chg="mod">
          <ac:chgData name="Happy Dedha" userId="000df637405e1e22" providerId="LiveId" clId="{A0888B77-9E65-4872-9C66-9BDD8D59237F}" dt="2026-09-26T04:40:32.845" v="12" actId="27636"/>
          <ac:spMkLst>
            <pc:docMk/>
            <pc:sldMk cId="2084523168" sldId="260"/>
            <ac:spMk id="147" creationId="{9ACB89B4-C319-46C0-97C2-5965BA3A1ADB}"/>
          </ac:spMkLst>
        </pc:spChg>
        <pc:spChg chg="mod">
          <ac:chgData name="Happy Dedha" userId="000df637405e1e22" providerId="LiveId" clId="{A0888B77-9E65-4872-9C66-9BDD8D59237F}" dt="2026-09-26T04:40:32.845" v="14" actId="27636"/>
          <ac:spMkLst>
            <pc:docMk/>
            <pc:sldMk cId="2084523168" sldId="260"/>
            <ac:spMk id="150" creationId="{F58362FC-7A76-448E-A0C6-3525AC83A5B0}"/>
          </ac:spMkLst>
        </pc:spChg>
        <pc:spChg chg="mod">
          <ac:chgData name="Happy Dedha" userId="000df637405e1e22" providerId="LiveId" clId="{A0888B77-9E65-4872-9C66-9BDD8D59237F}" dt="2026-09-26T04:40:32.809" v="3" actId="27636"/>
          <ac:spMkLst>
            <pc:docMk/>
            <pc:sldMk cId="2084523168" sldId="260"/>
            <ac:spMk id="153" creationId="{EE9F3342-9ECA-4ACC-AA74-67E18167F8E2}"/>
          </ac:spMkLst>
        </pc:spChg>
        <pc:spChg chg="mod">
          <ac:chgData name="Happy Dedha" userId="000df637405e1e22" providerId="LiveId" clId="{A0888B77-9E65-4872-9C66-9BDD8D59237F}" dt="2026-09-26T04:40:32.867" v="17" actId="27636"/>
          <ac:spMkLst>
            <pc:docMk/>
            <pc:sldMk cId="2084523168" sldId="260"/>
            <ac:spMk id="156" creationId="{33DB1520-03AA-460E-A028-669235E34EE2}"/>
          </ac:spMkLst>
        </pc:spChg>
      </pc:sldChg>
      <pc:sldChg chg="modSp mod">
        <pc:chgData name="Happy Dedha" userId="000df637405e1e22" providerId="LiveId" clId="{A0888B77-9E65-4872-9C66-9BDD8D59237F}" dt="2026-09-26T04:40:32.938" v="26" actId="27636"/>
        <pc:sldMkLst>
          <pc:docMk/>
          <pc:sldMk cId="1853250408" sldId="262"/>
        </pc:sldMkLst>
        <pc:spChg chg="mod">
          <ac:chgData name="Happy Dedha" userId="000df637405e1e22" providerId="LiveId" clId="{A0888B77-9E65-4872-9C66-9BDD8D59237F}" dt="2026-09-26T04:40:32.924" v="24" actId="27636"/>
          <ac:spMkLst>
            <pc:docMk/>
            <pc:sldMk cId="1853250408" sldId="262"/>
            <ac:spMk id="148" creationId="{2290C18D-0F17-495F-9A48-98B2312DC0E7}"/>
          </ac:spMkLst>
        </pc:spChg>
        <pc:spChg chg="mod">
          <ac:chgData name="Happy Dedha" userId="000df637405e1e22" providerId="LiveId" clId="{A0888B77-9E65-4872-9C66-9BDD8D59237F}" dt="2026-09-26T04:40:32.918" v="23" actId="27636"/>
          <ac:spMkLst>
            <pc:docMk/>
            <pc:sldMk cId="1853250408" sldId="262"/>
            <ac:spMk id="151" creationId="{7E5C5202-ECA6-4386-A214-9FC156B70970}"/>
          </ac:spMkLst>
        </pc:spChg>
        <pc:spChg chg="mod">
          <ac:chgData name="Happy Dedha" userId="000df637405e1e22" providerId="LiveId" clId="{A0888B77-9E65-4872-9C66-9BDD8D59237F}" dt="2026-09-26T04:40:32.938" v="26" actId="27636"/>
          <ac:spMkLst>
            <pc:docMk/>
            <pc:sldMk cId="1853250408" sldId="262"/>
            <ac:spMk id="152" creationId="{35B755E0-88F6-4C58-8B6E-90306276B403}"/>
          </ac:spMkLst>
        </pc:spChg>
        <pc:spChg chg="mod">
          <ac:chgData name="Happy Dedha" userId="000df637405e1e22" providerId="LiveId" clId="{A0888B77-9E65-4872-9C66-9BDD8D59237F}" dt="2026-09-26T04:40:32.911" v="22" actId="27636"/>
          <ac:spMkLst>
            <pc:docMk/>
            <pc:sldMk cId="1853250408" sldId="262"/>
            <ac:spMk id="154" creationId="{F33C7B5A-C542-47E4-8C98-F5580B5D0FD1}"/>
          </ac:spMkLst>
        </pc:spChg>
        <pc:spChg chg="mod">
          <ac:chgData name="Happy Dedha" userId="000df637405e1e22" providerId="LiveId" clId="{A0888B77-9E65-4872-9C66-9BDD8D59237F}" dt="2026-09-26T04:40:32.899" v="20" actId="27636"/>
          <ac:spMkLst>
            <pc:docMk/>
            <pc:sldMk cId="1853250408" sldId="262"/>
            <ac:spMk id="155" creationId="{A66D7D0B-4A1F-45F5-B523-6DA1F9E4FBE8}"/>
          </ac:spMkLst>
        </pc:spChg>
        <pc:spChg chg="mod">
          <ac:chgData name="Happy Dedha" userId="000df637405e1e22" providerId="LiveId" clId="{A0888B77-9E65-4872-9C66-9BDD8D59237F}" dt="2026-09-26T04:40:32.906" v="21" actId="27636"/>
          <ac:spMkLst>
            <pc:docMk/>
            <pc:sldMk cId="1853250408" sldId="262"/>
            <ac:spMk id="157" creationId="{4C8F10E4-89A7-41EE-A3C7-C955BC6FF38D}"/>
          </ac:spMkLst>
        </pc:spChg>
        <pc:spChg chg="mod">
          <ac:chgData name="Happy Dedha" userId="000df637405e1e22" providerId="LiveId" clId="{A0888B77-9E65-4872-9C66-9BDD8D59237F}" dt="2026-09-26T04:40:32.931" v="25" actId="27636"/>
          <ac:spMkLst>
            <pc:docMk/>
            <pc:sldMk cId="1853250408" sldId="262"/>
            <ac:spMk id="160" creationId="{C6F01464-8476-4BED-95D6-0B1B2D07B9D2}"/>
          </ac:spMkLst>
        </pc:spChg>
        <pc:spChg chg="mod">
          <ac:chgData name="Happy Dedha" userId="000df637405e1e22" providerId="LiveId" clId="{A0888B77-9E65-4872-9C66-9BDD8D59237F}" dt="2026-09-26T04:40:32.892" v="19" actId="27636"/>
          <ac:spMkLst>
            <pc:docMk/>
            <pc:sldMk cId="1853250408" sldId="262"/>
            <ac:spMk id="163" creationId="{B20ECB02-D543-48EA-8CB0-B7FF6CEB1C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Source: Sales_Demand_Forecasting_Synopsis.docx (provided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D84DC601-6FC9-41EF-B6A8-4C8084FAD232}"/>
              </a:ext>
            </a:extLst>
          </p:cNvPr>
          <p:cNvSpPr>
            <a:spLocks noGrp="1"/>
          </p:cNvSpPr>
          <p:nvPr/>
        </p:nvSpPr>
        <p:spPr>
          <a:xfrm>
            <a:off x="10424160" y="-1463040"/>
            <a:ext cx="3108960" cy="3108960"/>
          </a:xfrm>
          <a:prstGeom prst="ellipse">
            <a:avLst/>
          </a:prstGeom>
          <a:solidFill>
            <a:srgbClr val="1C7293">
              <a:alpha val="18039"/>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7" name="Google Shape;17;p3">
            <a:extLst>
              <a:ext uri="{FF2B5EF4-FFF2-40B4-BE49-F238E27FC236}">
                <a16:creationId xmlns:a16="http://schemas.microsoft.com/office/drawing/2014/main" id="{8662F965-5D5F-4293-86FF-AD56001890B2}"/>
              </a:ext>
            </a:extLst>
          </p:cNvPr>
          <p:cNvSpPr>
            <a:spLocks noGrp="1"/>
          </p:cNvSpPr>
          <p:nvPr/>
        </p:nvSpPr>
        <p:spPr>
          <a:xfrm>
            <a:off x="-1097280" y="5669280"/>
            <a:ext cx="2194560" cy="2194560"/>
          </a:xfrm>
          <a:prstGeom prst="ellipse">
            <a:avLst/>
          </a:prstGeom>
          <a:solidFill>
            <a:srgbClr val="CFE3EE">
              <a:alpha val="10196"/>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8" name="Google Shape;18;p3">
            <a:extLst>
              <a:ext uri="{FF2B5EF4-FFF2-40B4-BE49-F238E27FC236}">
                <a16:creationId xmlns:a16="http://schemas.microsoft.com/office/drawing/2014/main" id="{C4B50ED4-87FC-45E5-905D-1D3B6F5C6DD7}"/>
              </a:ext>
            </a:extLst>
          </p:cNvPr>
          <p:cNvSpPr>
            <a:spLocks noGrp="1"/>
          </p:cNvSpPr>
          <p:nvPr/>
        </p:nvSpPr>
        <p:spPr>
          <a:xfrm>
            <a:off x="914400" y="1691640"/>
            <a:ext cx="10360152" cy="365760"/>
          </a:xfrm>
          <a:prstGeom prst="rect">
            <a:avLst/>
          </a:prstGeom>
          <a:noFill/>
          <a:ln>
            <a:noFill/>
          </a:ln>
        </p:spPr>
        <p:txBody>
          <a:bodyPr spcFirstLastPara="1" wrap="square" lIns="91425" tIns="45700" rIns="91425" bIns="45700" anchor="ctr">
            <a:noAutofit/>
          </a:bodyPr>
          <a:lstStyle/>
          <a:p>
            <a:pPr marL="0" marR="0" lvl="0" indent="0" algn="ctr">
              <a:lnSpc>
                <a:spcPct val="100000"/>
              </a:lnSpc>
              <a:spcBef>
                <a:spcPts val="0"/>
              </a:spcBef>
              <a:spcAft>
                <a:spcPts val="0"/>
              </a:spcAft>
              <a:buClr>
                <a:srgbClr val="FFFFFF"/>
              </a:buClr>
              <a:buSzPts val="1600"/>
              <a:buFont typeface="Calibri"/>
              <a:buNone/>
            </a:pPr>
            <a:r>
              <a:rPr sz="2700" b="1" i="0" u="none" cap="none">
                <a:solidFill>
                  <a:srgbClr val="FFFFFF"/>
                </a:solidFill>
                <a:latin typeface="Calibri"/>
                <a:ea typeface="Calibri"/>
                <a:cs typeface="Calibri"/>
              </a:rPr>
              <a:t>LLOYD INSTITUTE OF ENGINEERING &amp; TECHNOLOGY</a:t>
            </a:r>
            <a:endParaRPr sz="2700" b="0" i="0" u="none" cap="none">
              <a:solidFill>
                <a:schemeClr val="dk1"/>
              </a:solidFill>
              <a:latin typeface="Calibri"/>
              <a:ea typeface="Calibri"/>
              <a:cs typeface="Calibri"/>
            </a:endParaRPr>
          </a:p>
        </p:txBody>
      </p:sp>
      <p:sp>
        <p:nvSpPr>
          <p:cNvPr id="19" name="Google Shape;19;p3">
            <a:extLst>
              <a:ext uri="{FF2B5EF4-FFF2-40B4-BE49-F238E27FC236}">
                <a16:creationId xmlns:a16="http://schemas.microsoft.com/office/drawing/2014/main" id="{043A3B7F-7543-4037-A760-FFD851B750BB}"/>
              </a:ext>
            </a:extLst>
          </p:cNvPr>
          <p:cNvSpPr>
            <a:spLocks noGrp="1"/>
          </p:cNvSpPr>
          <p:nvPr/>
        </p:nvSpPr>
        <p:spPr>
          <a:xfrm>
            <a:off x="914400" y="2114821"/>
            <a:ext cx="10360200" cy="274200"/>
          </a:xfrm>
          <a:prstGeom prst="rect">
            <a:avLst/>
          </a:prstGeom>
          <a:noFill/>
          <a:ln>
            <a:noFill/>
          </a:ln>
        </p:spPr>
        <p:txBody>
          <a:bodyPr spcFirstLastPara="1" wrap="square" lIns="91425" tIns="45700" rIns="91425" bIns="45700" anchor="ctr">
            <a:noAutofit/>
          </a:bodyPr>
          <a:lstStyle/>
          <a:p>
            <a:pPr marL="0" marR="0" lvl="0" indent="0" algn="ctr">
              <a:lnSpc>
                <a:spcPct val="100000"/>
              </a:lnSpc>
              <a:spcBef>
                <a:spcPts val="0"/>
              </a:spcBef>
              <a:spcAft>
                <a:spcPts val="0"/>
              </a:spcAft>
              <a:buClr>
                <a:srgbClr val="CFE3EE"/>
              </a:buClr>
              <a:buSzPts val="1250"/>
              <a:buFont typeface="Calibri"/>
              <a:buNone/>
            </a:pPr>
            <a:r>
              <a:rPr sz="1650" b="0" i="0" u="none" cap="none">
                <a:solidFill>
                  <a:srgbClr val="CFE3EE"/>
                </a:solidFill>
                <a:latin typeface="Calibri"/>
                <a:ea typeface="Calibri"/>
                <a:cs typeface="Calibri"/>
              </a:rPr>
              <a:t>Greater Noida  |  Department of Computer Science &amp; Engineering</a:t>
            </a:r>
            <a:endParaRPr sz="1650" b="0" i="0" u="none" cap="none">
              <a:solidFill>
                <a:schemeClr val="dk1"/>
              </a:solidFill>
              <a:latin typeface="Calibri"/>
              <a:ea typeface="Calibri"/>
              <a:cs typeface="Calibri"/>
            </a:endParaRPr>
          </a:p>
        </p:txBody>
      </p:sp>
      <p:sp>
        <p:nvSpPr>
          <p:cNvPr id="20" name="Google Shape;20;p3">
            <a:extLst>
              <a:ext uri="{FF2B5EF4-FFF2-40B4-BE49-F238E27FC236}">
                <a16:creationId xmlns:a16="http://schemas.microsoft.com/office/drawing/2014/main" id="{BD7BFF52-2A51-40EF-895F-88CD19A55D72}"/>
              </a:ext>
            </a:extLst>
          </p:cNvPr>
          <p:cNvSpPr>
            <a:spLocks noGrp="1"/>
          </p:cNvSpPr>
          <p:nvPr/>
        </p:nvSpPr>
        <p:spPr>
          <a:xfrm>
            <a:off x="914400" y="2715775"/>
            <a:ext cx="10360200" cy="320100"/>
          </a:xfrm>
          <a:prstGeom prst="rect">
            <a:avLst/>
          </a:prstGeom>
          <a:noFill/>
          <a:ln>
            <a:noFill/>
          </a:ln>
        </p:spPr>
        <p:txBody>
          <a:bodyPr spcFirstLastPara="1" wrap="square" lIns="91425" tIns="45700" rIns="91425" bIns="45700" anchor="ctr">
            <a:normAutofit fontScale="87535" lnSpcReduction="10000"/>
          </a:bodyPr>
          <a:lstStyle/>
          <a:p>
            <a:pPr marL="0" marR="0" lvl="0" indent="0" algn="ctr">
              <a:lnSpc>
                <a:spcPct val="100000"/>
              </a:lnSpc>
              <a:spcBef>
                <a:spcPts val="0"/>
              </a:spcBef>
              <a:spcAft>
                <a:spcPts val="0"/>
              </a:spcAft>
              <a:buClr>
                <a:srgbClr val="6FB6CE"/>
              </a:buClr>
              <a:buSzPts val="1200"/>
              <a:buFont typeface="Calibri"/>
              <a:buNone/>
              <a:defRPr sz="1875" b="1">
                <a:solidFill>
                  <a:srgbClr val="6FC1DC"/>
                </a:solidFill>
              </a:defRPr>
            </a:pPr>
            <a:r>
              <a:rPr sz="1875" b="1" i="0" u="none" cap="none">
                <a:solidFill>
                  <a:srgbClr val="6FC1DC"/>
                </a:solidFill>
                <a:latin typeface="Calibri"/>
                <a:ea typeface="Calibri"/>
                <a:cs typeface="Calibri"/>
              </a:rPr>
              <a:t>B.TECH CSE DATA SCIENCE  ·  7TH SEMESTER</a:t>
            </a:r>
            <a:endParaRPr sz="2000" b="0" i="0" u="none" cap="none">
              <a:solidFill>
                <a:schemeClr val="dk1"/>
              </a:solidFill>
              <a:latin typeface="Calibri"/>
              <a:ea typeface="Calibri"/>
              <a:cs typeface="Calibri"/>
            </a:endParaRPr>
          </a:p>
        </p:txBody>
      </p:sp>
      <p:sp>
        <p:nvSpPr>
          <p:cNvPr id="21" name="Google Shape;21;p3">
            <a:extLst>
              <a:ext uri="{FF2B5EF4-FFF2-40B4-BE49-F238E27FC236}">
                <a16:creationId xmlns:a16="http://schemas.microsoft.com/office/drawing/2014/main" id="{72439FC8-9639-4488-8F66-7262CCB21BB0}"/>
              </a:ext>
            </a:extLst>
          </p:cNvPr>
          <p:cNvSpPr>
            <a:spLocks noGrp="1"/>
          </p:cNvSpPr>
          <p:nvPr/>
        </p:nvSpPr>
        <p:spPr>
          <a:xfrm>
            <a:off x="1280160" y="3200400"/>
            <a:ext cx="9628632" cy="1371600"/>
          </a:xfrm>
          <a:prstGeom prst="roundRect">
            <a:avLst>
              <a:gd name="adj" fmla="val 8000"/>
            </a:avLst>
          </a:prstGeom>
          <a:solidFill>
            <a:srgbClr val="FFFFFF">
              <a:alpha val="5882"/>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2" name="Google Shape;22;p3">
            <a:extLst>
              <a:ext uri="{FF2B5EF4-FFF2-40B4-BE49-F238E27FC236}">
                <a16:creationId xmlns:a16="http://schemas.microsoft.com/office/drawing/2014/main" id="{8BD70130-F54D-4EFD-85A6-F88FE75B3C95}"/>
              </a:ext>
            </a:extLst>
          </p:cNvPr>
          <p:cNvSpPr>
            <a:spLocks noGrp="1"/>
          </p:cNvSpPr>
          <p:nvPr/>
        </p:nvSpPr>
        <p:spPr>
          <a:xfrm>
            <a:off x="1463040" y="3200400"/>
            <a:ext cx="9262872" cy="1371600"/>
          </a:xfrm>
          <a:prstGeom prst="rect">
            <a:avLst/>
          </a:prstGeom>
          <a:noFill/>
          <a:ln>
            <a:noFill/>
          </a:ln>
        </p:spPr>
        <p:txBody>
          <a:bodyPr spcFirstLastPara="1" wrap="square" lIns="91425" tIns="45700" rIns="91425" bIns="45700" anchor="ctr">
            <a:normAutofit/>
          </a:bodyPr>
          <a:lstStyle/>
          <a:p>
            <a:pPr marL="0" marR="0" lvl="0" indent="0" algn="ctr">
              <a:lnSpc>
                <a:spcPct val="100000"/>
              </a:lnSpc>
              <a:spcBef>
                <a:spcPts val="0"/>
              </a:spcBef>
              <a:spcAft>
                <a:spcPts val="0"/>
              </a:spcAft>
              <a:buClr>
                <a:srgbClr val="FFFFFF"/>
              </a:buClr>
              <a:buSzPts val="3200"/>
              <a:buFont typeface="Cambria"/>
              <a:buNone/>
              <a:defRPr sz="2625" b="1">
                <a:solidFill>
                  <a:srgbClr val="FFFFFF"/>
                </a:solidFill>
              </a:defRPr>
            </a:pPr>
            <a:r>
              <a:rPr sz="2625" b="1" i="0" u="none" cap="none">
                <a:solidFill>
                  <a:srgbClr val="FFFFFF"/>
                </a:solidFill>
                <a:latin typeface="Cambria"/>
                <a:ea typeface="Cambria"/>
                <a:cs typeface="Cambria"/>
              </a:rPr>
              <a:t>Sales and Demand Forecasting</a:t>
            </a:r>
            <a:endParaRPr sz="3000" b="0" i="0" u="none" cap="none">
              <a:solidFill>
                <a:schemeClr val="dk1"/>
              </a:solidFill>
              <a:latin typeface="Calibri"/>
              <a:ea typeface="Calibri"/>
              <a:cs typeface="Calibri"/>
            </a:endParaRPr>
          </a:p>
          <a:p>
            <a:pPr marL="0" marR="0" lvl="0" indent="0" algn="ctr">
              <a:lnSpc>
                <a:spcPct val="100000"/>
              </a:lnSpc>
              <a:spcBef>
                <a:spcPts val="0"/>
              </a:spcBef>
              <a:spcAft>
                <a:spcPts val="0"/>
              </a:spcAft>
              <a:buClr>
                <a:srgbClr val="FFFFFF"/>
              </a:buClr>
              <a:buSzPts val="3200"/>
              <a:buFont typeface="Cambria"/>
              <a:buNone/>
              <a:defRPr sz="2625" b="1">
                <a:solidFill>
                  <a:srgbClr val="FFFFFF"/>
                </a:solidFill>
              </a:defRPr>
            </a:pPr>
            <a:r>
              <a:rPr sz="2625" b="1" i="0" u="none" cap="none">
                <a:solidFill>
                  <a:srgbClr val="FFFFFF"/>
                </a:solidFill>
                <a:latin typeface="Cambria"/>
                <a:ea typeface="Cambria"/>
                <a:cs typeface="Cambria"/>
              </a:rPr>
              <a:t>using Time Series Analysis</a:t>
            </a:r>
            <a:endParaRPr sz="3000" b="0" i="0" u="none" cap="none">
              <a:solidFill>
                <a:schemeClr val="dk1"/>
              </a:solidFill>
              <a:latin typeface="Calibri"/>
              <a:ea typeface="Calibri"/>
              <a:cs typeface="Calibri"/>
            </a:endParaRPr>
          </a:p>
        </p:txBody>
      </p:sp>
      <p:sp>
        <p:nvSpPr>
          <p:cNvPr id="23" name="Google Shape;23;p3">
            <a:extLst>
              <a:ext uri="{FF2B5EF4-FFF2-40B4-BE49-F238E27FC236}">
                <a16:creationId xmlns:a16="http://schemas.microsoft.com/office/drawing/2014/main" id="{89FCA029-600B-4B94-AC74-E280700091B2}"/>
              </a:ext>
            </a:extLst>
          </p:cNvPr>
          <p:cNvSpPr>
            <a:spLocks noGrp="1"/>
          </p:cNvSpPr>
          <p:nvPr/>
        </p:nvSpPr>
        <p:spPr>
          <a:xfrm>
            <a:off x="914400" y="4709160"/>
            <a:ext cx="10360152" cy="320040"/>
          </a:xfrm>
          <a:prstGeom prst="rect">
            <a:avLst/>
          </a:prstGeom>
          <a:noFill/>
          <a:ln>
            <a:noFill/>
          </a:ln>
        </p:spPr>
        <p:txBody>
          <a:bodyPr spcFirstLastPara="1" wrap="square" lIns="91425" tIns="45700" rIns="91425" bIns="45700" anchor="ctr">
            <a:normAutofit/>
          </a:bodyPr>
          <a:lstStyle/>
          <a:p>
            <a:pPr marL="0" marR="0" lvl="0" indent="0" algn="ctr">
              <a:lnSpc>
                <a:spcPct val="100000"/>
              </a:lnSpc>
              <a:spcBef>
                <a:spcPts val="0"/>
              </a:spcBef>
              <a:spcAft>
                <a:spcPts val="0"/>
              </a:spcAft>
              <a:buClr>
                <a:srgbClr val="CFE3EE"/>
              </a:buClr>
              <a:buSzPts val="1300"/>
              <a:buFont typeface="Calibri"/>
              <a:buNone/>
              <a:defRPr sz="1350">
                <a:solidFill>
                  <a:srgbClr val="D7E5F4"/>
                </a:solidFill>
              </a:defRPr>
            </a:pPr>
            <a:r>
              <a:rPr sz="1350" b="0" i="1" u="none" cap="none">
                <a:solidFill>
                  <a:srgbClr val="D7E5F4"/>
                </a:solidFill>
                <a:latin typeface="Calibri"/>
                <a:ea typeface="Calibri"/>
                <a:cs typeface="Calibri"/>
              </a:rPr>
              <a:t>Project Presentation  |  Academic Year 2026–27</a:t>
            </a:r>
            <a:endParaRPr sz="1500" b="0" i="0" u="none" cap="none">
              <a:solidFill>
                <a:schemeClr val="dk1"/>
              </a:solidFill>
              <a:latin typeface="Calibri"/>
              <a:ea typeface="Calibri"/>
              <a:cs typeface="Calibri"/>
            </a:endParaRPr>
          </a:p>
        </p:txBody>
      </p:sp>
      <p:cxnSp>
        <p:nvCxnSpPr>
          <p:cNvPr id="39" name="Google Shape;24;p3"/>
          <p:cNvCxnSpPr/>
          <p:nvPr/>
        </p:nvCxnSpPr>
        <p:spPr>
          <a:xfrm>
            <a:off x="6094476" y="5257800"/>
            <a:ext cx="0" cy="1188720"/>
          </a:xfrm>
          <a:prstGeom prst="straightConnector1">
            <a:avLst/>
          </a:prstGeom>
          <a:ln w="9525" cap="flat">
            <a:solidFill>
              <a:srgbClr val="FFFFFF">
                <a:alpha val="30196"/>
              </a:srgbClr>
            </a:solidFill>
            <a:prstDash val="solid"/>
            <a:round/>
            <a:headEnd type="none" w="sm" len="sm"/>
            <a:tailEnd type="none" w="sm" len="sm"/>
          </a:ln>
        </p:spPr>
      </p:cxnSp>
      <p:sp>
        <p:nvSpPr>
          <p:cNvPr id="25" name="Google Shape;25;p3">
            <a:extLst>
              <a:ext uri="{FF2B5EF4-FFF2-40B4-BE49-F238E27FC236}">
                <a16:creationId xmlns:a16="http://schemas.microsoft.com/office/drawing/2014/main" id="{D3A01836-75C3-4CA3-AE9A-15258CF84F27}"/>
              </a:ext>
            </a:extLst>
          </p:cNvPr>
          <p:cNvSpPr>
            <a:spLocks noGrp="1"/>
          </p:cNvSpPr>
          <p:nvPr/>
        </p:nvSpPr>
        <p:spPr>
          <a:xfrm>
            <a:off x="914400" y="5303520"/>
            <a:ext cx="4114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FB6CE"/>
              </a:buClr>
              <a:buSzPts val="1050"/>
              <a:buFont typeface="Calibri"/>
              <a:buNone/>
            </a:pPr>
            <a:r>
              <a:rPr sz="1150" b="1" i="0" u="none" cap="none">
                <a:solidFill>
                  <a:srgbClr val="6FB6CE"/>
                </a:solidFill>
                <a:latin typeface="Calibri"/>
                <a:ea typeface="Calibri"/>
                <a:cs typeface="Calibri"/>
              </a:rPr>
              <a:t>GUIDE NAME</a:t>
            </a:r>
            <a:endParaRPr sz="1250" b="0" i="0" u="none" cap="none">
              <a:solidFill>
                <a:schemeClr val="dk1"/>
              </a:solidFill>
              <a:latin typeface="Calibri"/>
              <a:ea typeface="Calibri"/>
              <a:cs typeface="Calibri"/>
            </a:endParaRPr>
          </a:p>
        </p:txBody>
      </p:sp>
      <p:sp>
        <p:nvSpPr>
          <p:cNvPr id="26" name="Google Shape;26;p3">
            <a:extLst>
              <a:ext uri="{FF2B5EF4-FFF2-40B4-BE49-F238E27FC236}">
                <a16:creationId xmlns:a16="http://schemas.microsoft.com/office/drawing/2014/main" id="{4AADCE93-4BF6-41A4-BBA6-D2489C9AE5E8}"/>
              </a:ext>
            </a:extLst>
          </p:cNvPr>
          <p:cNvSpPr>
            <a:spLocks noGrp="1"/>
          </p:cNvSpPr>
          <p:nvPr/>
        </p:nvSpPr>
        <p:spPr>
          <a:xfrm>
            <a:off x="914400" y="5715000"/>
            <a:ext cx="4480560" cy="365760"/>
          </a:xfrm>
          <a:prstGeom prst="rect">
            <a:avLst/>
          </a:prstGeom>
          <a:noFill/>
          <a:ln>
            <a:noFill/>
          </a:ln>
        </p:spPr>
        <p:txBody>
          <a:bodyPr spcFirstLastPara="1" wrap="square" lIns="91425" tIns="45700" rIns="91425" bIns="45700" anchor="ctr">
            <a:normAutofit/>
          </a:bodyPr>
          <a:lstStyle/>
          <a:p>
            <a:pPr>
              <a:buClr>
                <a:srgbClr val="FFFFFF"/>
              </a:buClr>
              <a:buSzPts val="1500"/>
              <a:defRPr sz="1425" b="1">
                <a:solidFill>
                  <a:srgbClr val="FFFFFF"/>
                </a:solidFill>
              </a:defRPr>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Dr. Alankrita Agrawal</a:t>
            </a:r>
          </a:p>
          <a:p>
            <a:pPr marL="0" marR="0" lvl="0" indent="0" algn="l">
              <a:lnSpc>
                <a:spcPct val="100000"/>
              </a:lnSpc>
              <a:spcBef>
                <a:spcPts val="0"/>
              </a:spcBef>
              <a:spcAft>
                <a:spcPts val="0"/>
              </a:spcAft>
              <a:buClr>
                <a:srgbClr val="FFFFFF"/>
              </a:buClr>
              <a:buSzPts val="1500"/>
              <a:buFont typeface="Calibri"/>
              <a:buNone/>
              <a:defRPr sz="1425" b="1">
                <a:solidFill>
                  <a:srgbClr val="FFFFFF"/>
                </a:solidFill>
              </a:defRPr>
            </a:pPr>
            <a:endParaRPr sz="1400" b="0" i="0" u="none" cap="none" dirty="0">
              <a:solidFill>
                <a:schemeClr val="dk1"/>
              </a:solidFill>
              <a:latin typeface="Calibri"/>
              <a:ea typeface="Calibri"/>
              <a:cs typeface="Calibri"/>
            </a:endParaRPr>
          </a:p>
        </p:txBody>
      </p:sp>
      <p:sp>
        <p:nvSpPr>
          <p:cNvPr id="27" name="Google Shape;27;p3">
            <a:extLst>
              <a:ext uri="{FF2B5EF4-FFF2-40B4-BE49-F238E27FC236}">
                <a16:creationId xmlns:a16="http://schemas.microsoft.com/office/drawing/2014/main" id="{FC10612E-EB41-4745-8F85-00B519F4E43D}"/>
              </a:ext>
            </a:extLst>
          </p:cNvPr>
          <p:cNvSpPr>
            <a:spLocks noGrp="1"/>
          </p:cNvSpPr>
          <p:nvPr/>
        </p:nvSpPr>
        <p:spPr>
          <a:xfrm>
            <a:off x="914400" y="5989320"/>
            <a:ext cx="4480560" cy="32004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CFE3EE"/>
              </a:buClr>
              <a:buSzPts val="1100"/>
              <a:buFont typeface="Calibri"/>
              <a:buNone/>
              <a:defRPr sz="1050">
                <a:solidFill>
                  <a:srgbClr val="D7E5F4"/>
                </a:solidFill>
              </a:defRPr>
            </a:pPr>
            <a:r>
              <a:rPr lang="en-US" sz="1050" b="0" i="0" u="none" cap="none">
                <a:solidFill>
                  <a:srgbClr val="D7E5F4"/>
                </a:solidFill>
                <a:latin typeface="Calibri"/>
                <a:ea typeface="Calibri"/>
                <a:cs typeface="Calibri"/>
              </a:rPr>
              <a:t>Professor</a:t>
            </a:r>
            <a:endParaRPr sz="1200" b="0" i="0" u="none" cap="none" dirty="0">
              <a:solidFill>
                <a:schemeClr val="dk1"/>
              </a:solidFill>
              <a:latin typeface="Calibri"/>
              <a:ea typeface="Calibri"/>
              <a:cs typeface="Calibri"/>
            </a:endParaRPr>
          </a:p>
        </p:txBody>
      </p:sp>
      <p:sp>
        <p:nvSpPr>
          <p:cNvPr id="28" name="Google Shape;28;p3">
            <a:extLst>
              <a:ext uri="{FF2B5EF4-FFF2-40B4-BE49-F238E27FC236}">
                <a16:creationId xmlns:a16="http://schemas.microsoft.com/office/drawing/2014/main" id="{E224FF3D-2368-4CFC-88A5-95286851A27F}"/>
              </a:ext>
            </a:extLst>
          </p:cNvPr>
          <p:cNvSpPr>
            <a:spLocks noGrp="1"/>
          </p:cNvSpPr>
          <p:nvPr/>
        </p:nvSpPr>
        <p:spPr>
          <a:xfrm>
            <a:off x="7316451" y="5303525"/>
            <a:ext cx="4022100" cy="2742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FB6CE"/>
              </a:buClr>
              <a:buSzPts val="1050"/>
              <a:buFont typeface="Calibri"/>
              <a:buNone/>
            </a:pPr>
            <a:r>
              <a:rPr sz="1250" b="1">
                <a:solidFill>
                  <a:srgbClr val="6FB6CE"/>
                </a:solidFill>
                <a:latin typeface="Calibri"/>
                <a:ea typeface="Calibri"/>
                <a:cs typeface="Calibri"/>
              </a:rPr>
              <a:t>   </a:t>
            </a:r>
            <a:r>
              <a:rPr sz="1250" b="1" i="0" u="none" cap="none">
                <a:solidFill>
                  <a:srgbClr val="6FB6CE"/>
                </a:solidFill>
                <a:latin typeface="Calibri"/>
                <a:ea typeface="Calibri"/>
                <a:cs typeface="Calibri"/>
              </a:rPr>
              <a:t>SUBMITTED BY</a:t>
            </a:r>
            <a:endParaRPr sz="1250" b="0" i="0" u="none" cap="none">
              <a:solidFill>
                <a:schemeClr val="dk1"/>
              </a:solidFill>
              <a:latin typeface="Calibri"/>
              <a:ea typeface="Calibri"/>
              <a:cs typeface="Calibri"/>
            </a:endParaRPr>
          </a:p>
        </p:txBody>
      </p:sp>
      <p:sp>
        <p:nvSpPr>
          <p:cNvPr id="29" name="Google Shape;29;p3">
            <a:extLst>
              <a:ext uri="{FF2B5EF4-FFF2-40B4-BE49-F238E27FC236}">
                <a16:creationId xmlns:a16="http://schemas.microsoft.com/office/drawing/2014/main" id="{5CBEEAEB-4B64-4FBB-A02F-0B9356D4B86F}"/>
              </a:ext>
            </a:extLst>
          </p:cNvPr>
          <p:cNvSpPr>
            <a:spLocks noGrp="1"/>
          </p:cNvSpPr>
          <p:nvPr/>
        </p:nvSpPr>
        <p:spPr>
          <a:xfrm>
            <a:off x="7316451" y="5577850"/>
            <a:ext cx="4022100" cy="1005900"/>
          </a:xfrm>
          <a:prstGeom prst="rect">
            <a:avLst/>
          </a:prstGeom>
          <a:noFill/>
          <a:ln>
            <a:noFill/>
          </a:ln>
        </p:spPr>
        <p:txBody>
          <a:bodyPr spcFirstLastPara="1" wrap="square" lIns="91425" tIns="45700" rIns="91425" bIns="45700" anchor="ctr">
            <a:normAutofit/>
          </a:bodyPr>
          <a:lstStyle/>
          <a:p>
            <a:pPr marL="0" marR="0" lvl="0" indent="0" algn="l">
              <a:lnSpc>
                <a:spcPct val="135000"/>
              </a:lnSpc>
              <a:spcBef>
                <a:spcPts val="0"/>
              </a:spcBef>
              <a:spcAft>
                <a:spcPts val="0"/>
              </a:spcAft>
              <a:buClr>
                <a:srgbClr val="FFFFFF"/>
              </a:buClr>
              <a:buSzPts val="1150"/>
              <a:buFont typeface="Calibri"/>
              <a:buNone/>
              <a:defRPr sz="1200">
                <a:solidFill>
                  <a:srgbClr val="FFFFFF"/>
                </a:solidFill>
              </a:defRPr>
            </a:pPr>
            <a:r>
              <a:rPr sz="1200" b="0" i="0" u="none" cap="none">
                <a:solidFill>
                  <a:srgbClr val="FFFFFF"/>
                </a:solidFill>
                <a:latin typeface="Calibri"/>
                <a:ea typeface="Calibri"/>
                <a:cs typeface="Calibri"/>
              </a:rPr>
              <a:t>Happy</a:t>
            </a:r>
            <a:endParaRPr sz="1250" b="0" i="0" u="none" cap="none">
              <a:solidFill>
                <a:schemeClr val="dk1"/>
              </a:solidFill>
              <a:latin typeface="Calibri"/>
              <a:ea typeface="Calibri"/>
              <a:cs typeface="Calibri"/>
            </a:endParaRPr>
          </a:p>
          <a:p>
            <a:pPr marL="0" marR="0" lvl="0" indent="0" algn="l">
              <a:lnSpc>
                <a:spcPct val="135000"/>
              </a:lnSpc>
              <a:spcBef>
                <a:spcPts val="0"/>
              </a:spcBef>
              <a:spcAft>
                <a:spcPts val="0"/>
              </a:spcAft>
              <a:buClr>
                <a:srgbClr val="FFFFFF"/>
              </a:buClr>
              <a:buSzPts val="1150"/>
              <a:buFont typeface="Calibri"/>
              <a:buNone/>
              <a:defRPr sz="1200">
                <a:solidFill>
                  <a:srgbClr val="FFFFFF"/>
                </a:solidFill>
              </a:defRPr>
            </a:pPr>
            <a:r>
              <a:rPr sz="1200">
                <a:solidFill>
                  <a:srgbClr val="FFFFFF"/>
                </a:solidFill>
              </a:rPr>
              <a:t>Roll No. 2301531540016</a:t>
            </a:r>
            <a:endParaRPr sz="1250" b="0" i="0" u="none" cap="none">
              <a:solidFill>
                <a:schemeClr val="dk1"/>
              </a:solidFill>
              <a:latin typeface="Calibri"/>
              <a:ea typeface="Calibri"/>
              <a:cs typeface="Calibri"/>
            </a:endParaRPr>
          </a:p>
          <a:p>
            <a:pPr marL="0" marR="0" lvl="0" indent="0" algn="l">
              <a:lnSpc>
                <a:spcPct val="135000"/>
              </a:lnSpc>
              <a:spcBef>
                <a:spcPts val="0"/>
              </a:spcBef>
              <a:spcAft>
                <a:spcPts val="0"/>
              </a:spcAft>
              <a:buClr>
                <a:srgbClr val="FFFFFF"/>
              </a:buClr>
              <a:buSzPts val="1150"/>
              <a:buFont typeface="Calibri"/>
              <a:buNone/>
              <a:defRPr sz="1200">
                <a:solidFill>
                  <a:srgbClr val="FFFFFF"/>
                </a:solidFill>
              </a:defRPr>
            </a:pPr>
            <a:r>
              <a:rPr sz="1200">
                <a:solidFill>
                  <a:srgbClr val="FFFFFF"/>
                </a:solidFill>
              </a:rPr>
              <a:t>BTech CSE Data Science · 7th Semester</a:t>
            </a:r>
            <a:endParaRPr sz="1250" b="0" i="0" u="none" cap="none">
              <a:solidFill>
                <a:schemeClr val="dk1"/>
              </a:solidFill>
              <a:latin typeface="Calibri"/>
              <a:ea typeface="Calibri"/>
              <a:cs typeface="Calibri"/>
            </a:endParaRPr>
          </a:p>
        </p:txBody>
      </p:sp>
      <p:pic>
        <p:nvPicPr>
          <p:cNvPr id="45" name="Google Shape;30;p3"/>
          <p:cNvPicPr>
            <a:picLocks noChangeAspect="1"/>
          </p:cNvPicPr>
          <p:nvPr/>
        </p:nvPicPr>
        <p:blipFill rotWithShape="1">
          <a:blip r:embed="rId3">
            <a:alphaModFix/>
          </a:blip>
          <a:srcRect/>
          <a:stretch/>
        </p:blipFill>
        <p:spPr>
          <a:xfrm>
            <a:off x="5591563" y="424800"/>
            <a:ext cx="1005835" cy="998625"/>
          </a:xfrm>
          <a:prstGeom prst="rect">
            <a:avLst/>
          </a:prstGeom>
          <a:ln>
            <a:noFill/>
          </a:ln>
        </p:spPr>
      </p:pic>
    </p:spTree>
    <p:extLst>
      <p:ext uri="{BB962C8B-B14F-4D97-AF65-F5344CB8AC3E}">
        <p14:creationId xmlns:p14="http://schemas.microsoft.com/office/powerpoint/2010/main" val="1951326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36" name="Google Shape;36;p4">
            <a:extLst>
              <a:ext uri="{FF2B5EF4-FFF2-40B4-BE49-F238E27FC236}">
                <a16:creationId xmlns:a16="http://schemas.microsoft.com/office/drawing/2014/main" id="{F967EAA8-B796-4222-8942-B0F28E6418B2}"/>
              </a:ext>
            </a:extLst>
          </p:cNvPr>
          <p:cNvSpPr>
            <a:spLocks noGrp="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 name="Google Shape;37;p4">
            <a:extLst>
              <a:ext uri="{FF2B5EF4-FFF2-40B4-BE49-F238E27FC236}">
                <a16:creationId xmlns:a16="http://schemas.microsoft.com/office/drawing/2014/main" id="{4C44C93A-373B-4B31-95EA-A8B847CCEBEF}"/>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8" name="Google Shape;38;p4">
            <a:extLst>
              <a:ext uri="{FF2B5EF4-FFF2-40B4-BE49-F238E27FC236}">
                <a16:creationId xmlns:a16="http://schemas.microsoft.com/office/drawing/2014/main" id="{563994FD-C7AF-4949-A378-9673AA3DB2FD}"/>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9" name="Google Shape;39;p4">
            <a:extLst>
              <a:ext uri="{FF2B5EF4-FFF2-40B4-BE49-F238E27FC236}">
                <a16:creationId xmlns:a16="http://schemas.microsoft.com/office/drawing/2014/main" id="{F0970BB0-2DDA-43C2-95B3-8012B82214A0}"/>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01</a:t>
            </a:r>
            <a:endParaRPr sz="1600" b="0" i="0" u="none" cap="none">
              <a:solidFill>
                <a:schemeClr val="dk1"/>
              </a:solidFill>
              <a:latin typeface="Calibri"/>
              <a:ea typeface="Calibri"/>
              <a:cs typeface="Calibri"/>
            </a:endParaRPr>
          </a:p>
        </p:txBody>
      </p:sp>
      <p:sp>
        <p:nvSpPr>
          <p:cNvPr id="40" name="Google Shape;40;p4">
            <a:extLst>
              <a:ext uri="{FF2B5EF4-FFF2-40B4-BE49-F238E27FC236}">
                <a16:creationId xmlns:a16="http://schemas.microsoft.com/office/drawing/2014/main" id="{5560D5C5-F9E3-486F-9FB1-F3B7C9E039F3}"/>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OVERVIEW</a:t>
            </a:r>
            <a:endParaRPr sz="1100" b="0" i="0" u="none" cap="none">
              <a:solidFill>
                <a:schemeClr val="dk1"/>
              </a:solidFill>
              <a:latin typeface="Calibri"/>
              <a:ea typeface="Calibri"/>
              <a:cs typeface="Calibri"/>
            </a:endParaRPr>
          </a:p>
        </p:txBody>
      </p:sp>
      <p:sp>
        <p:nvSpPr>
          <p:cNvPr id="41" name="Google Shape;41;p4">
            <a:extLst>
              <a:ext uri="{FF2B5EF4-FFF2-40B4-BE49-F238E27FC236}">
                <a16:creationId xmlns:a16="http://schemas.microsoft.com/office/drawing/2014/main" id="{00DD827C-8E66-4337-AE6A-2C6D1457E38F}"/>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Presentation Agenda</a:t>
            </a:r>
            <a:endParaRPr sz="3000" b="0" i="0" u="none" cap="none">
              <a:solidFill>
                <a:schemeClr val="dk1"/>
              </a:solidFill>
              <a:latin typeface="Calibri"/>
              <a:ea typeface="Calibri"/>
              <a:cs typeface="Calibri"/>
            </a:endParaRPr>
          </a:p>
        </p:txBody>
      </p:sp>
      <p:sp>
        <p:nvSpPr>
          <p:cNvPr id="42" name="Google Shape;42;p4">
            <a:extLst>
              <a:ext uri="{FF2B5EF4-FFF2-40B4-BE49-F238E27FC236}">
                <a16:creationId xmlns:a16="http://schemas.microsoft.com/office/drawing/2014/main" id="{E62FD102-5CE7-4B64-96DF-BD44020FD6B2}"/>
              </a:ext>
            </a:extLst>
          </p:cNvPr>
          <p:cNvSpPr>
            <a:spLocks noGrp="1"/>
          </p:cNvSpPr>
          <p:nvPr/>
        </p:nvSpPr>
        <p:spPr>
          <a:xfrm>
            <a:off x="914400" y="1600200"/>
            <a:ext cx="420624" cy="420624"/>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3" name="Google Shape;43;p4">
            <a:extLst>
              <a:ext uri="{FF2B5EF4-FFF2-40B4-BE49-F238E27FC236}">
                <a16:creationId xmlns:a16="http://schemas.microsoft.com/office/drawing/2014/main" id="{1B947ABA-A3C5-438A-8975-0C1EA4B8C640}"/>
              </a:ext>
            </a:extLst>
          </p:cNvPr>
          <p:cNvSpPr>
            <a:spLocks noGrp="1"/>
          </p:cNvSpPr>
          <p:nvPr/>
        </p:nvSpPr>
        <p:spPr>
          <a:xfrm>
            <a:off x="914400" y="1600200"/>
            <a:ext cx="420624" cy="420624"/>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1</a:t>
            </a:r>
            <a:endParaRPr sz="1400" b="0" i="0" u="none" cap="none">
              <a:solidFill>
                <a:schemeClr val="dk1"/>
              </a:solidFill>
              <a:latin typeface="Calibri"/>
              <a:ea typeface="Calibri"/>
              <a:cs typeface="Calibri"/>
            </a:endParaRPr>
          </a:p>
        </p:txBody>
      </p:sp>
      <p:sp>
        <p:nvSpPr>
          <p:cNvPr id="44" name="Google Shape;44;p4">
            <a:extLst>
              <a:ext uri="{FF2B5EF4-FFF2-40B4-BE49-F238E27FC236}">
                <a16:creationId xmlns:a16="http://schemas.microsoft.com/office/drawing/2014/main" id="{4246BACC-94CC-45A3-AFD7-A2FB23C43068}"/>
              </a:ext>
            </a:extLst>
          </p:cNvPr>
          <p:cNvSpPr>
            <a:spLocks noGrp="1"/>
          </p:cNvSpPr>
          <p:nvPr/>
        </p:nvSpPr>
        <p:spPr>
          <a:xfrm>
            <a:off x="1536192" y="1581912"/>
            <a:ext cx="4297680" cy="4572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Problem Statement</a:t>
            </a:r>
            <a:endParaRPr sz="1600" b="0" i="0" u="none" cap="none">
              <a:solidFill>
                <a:schemeClr val="dk1"/>
              </a:solidFill>
              <a:latin typeface="Calibri"/>
              <a:ea typeface="Calibri"/>
              <a:cs typeface="Calibri"/>
            </a:endParaRPr>
          </a:p>
        </p:txBody>
      </p:sp>
      <p:sp>
        <p:nvSpPr>
          <p:cNvPr id="45" name="Google Shape;45;p4">
            <a:extLst>
              <a:ext uri="{FF2B5EF4-FFF2-40B4-BE49-F238E27FC236}">
                <a16:creationId xmlns:a16="http://schemas.microsoft.com/office/drawing/2014/main" id="{32B22B04-0483-4EE8-A1BC-D8FECDD3F5FE}"/>
              </a:ext>
            </a:extLst>
          </p:cNvPr>
          <p:cNvSpPr>
            <a:spLocks noGrp="1"/>
          </p:cNvSpPr>
          <p:nvPr/>
        </p:nvSpPr>
        <p:spPr>
          <a:xfrm>
            <a:off x="914400" y="2258568"/>
            <a:ext cx="420624" cy="420624"/>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6" name="Google Shape;46;p4">
            <a:extLst>
              <a:ext uri="{FF2B5EF4-FFF2-40B4-BE49-F238E27FC236}">
                <a16:creationId xmlns:a16="http://schemas.microsoft.com/office/drawing/2014/main" id="{500B9101-AA98-471B-BC63-878348387627}"/>
              </a:ext>
            </a:extLst>
          </p:cNvPr>
          <p:cNvSpPr>
            <a:spLocks noGrp="1"/>
          </p:cNvSpPr>
          <p:nvPr/>
        </p:nvSpPr>
        <p:spPr>
          <a:xfrm>
            <a:off x="914400" y="2258568"/>
            <a:ext cx="420624" cy="420624"/>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2</a:t>
            </a:r>
            <a:endParaRPr sz="1400" b="0" i="0" u="none" cap="none">
              <a:solidFill>
                <a:schemeClr val="dk1"/>
              </a:solidFill>
              <a:latin typeface="Calibri"/>
              <a:ea typeface="Calibri"/>
              <a:cs typeface="Calibri"/>
            </a:endParaRPr>
          </a:p>
        </p:txBody>
      </p:sp>
      <p:sp>
        <p:nvSpPr>
          <p:cNvPr id="47" name="Google Shape;47;p4">
            <a:extLst>
              <a:ext uri="{FF2B5EF4-FFF2-40B4-BE49-F238E27FC236}">
                <a16:creationId xmlns:a16="http://schemas.microsoft.com/office/drawing/2014/main" id="{1B482363-9916-43E6-90E2-D5511BD4ABF1}"/>
              </a:ext>
            </a:extLst>
          </p:cNvPr>
          <p:cNvSpPr>
            <a:spLocks noGrp="1"/>
          </p:cNvSpPr>
          <p:nvPr/>
        </p:nvSpPr>
        <p:spPr>
          <a:xfrm>
            <a:off x="1536192" y="2240280"/>
            <a:ext cx="4297680" cy="4572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Objectives</a:t>
            </a:r>
            <a:endParaRPr sz="1600" b="0" i="0" u="none" cap="none">
              <a:solidFill>
                <a:schemeClr val="dk1"/>
              </a:solidFill>
              <a:latin typeface="Calibri"/>
              <a:ea typeface="Calibri"/>
              <a:cs typeface="Calibri"/>
            </a:endParaRPr>
          </a:p>
        </p:txBody>
      </p:sp>
      <p:sp>
        <p:nvSpPr>
          <p:cNvPr id="48" name="Google Shape;48;p4">
            <a:extLst>
              <a:ext uri="{FF2B5EF4-FFF2-40B4-BE49-F238E27FC236}">
                <a16:creationId xmlns:a16="http://schemas.microsoft.com/office/drawing/2014/main" id="{B13D5AEE-3D11-4965-8995-224DE6DB772D}"/>
              </a:ext>
            </a:extLst>
          </p:cNvPr>
          <p:cNvSpPr>
            <a:spLocks noGrp="1"/>
          </p:cNvSpPr>
          <p:nvPr/>
        </p:nvSpPr>
        <p:spPr>
          <a:xfrm>
            <a:off x="914400" y="2916936"/>
            <a:ext cx="420624" cy="420624"/>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9" name="Google Shape;49;p4">
            <a:extLst>
              <a:ext uri="{FF2B5EF4-FFF2-40B4-BE49-F238E27FC236}">
                <a16:creationId xmlns:a16="http://schemas.microsoft.com/office/drawing/2014/main" id="{2B436E41-DF54-4CF5-A38F-8C65A3CF8180}"/>
              </a:ext>
            </a:extLst>
          </p:cNvPr>
          <p:cNvSpPr>
            <a:spLocks noGrp="1"/>
          </p:cNvSpPr>
          <p:nvPr/>
        </p:nvSpPr>
        <p:spPr>
          <a:xfrm>
            <a:off x="914400" y="2916936"/>
            <a:ext cx="420624" cy="420624"/>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3</a:t>
            </a:r>
            <a:endParaRPr sz="1400" b="0" i="0" u="none" cap="none">
              <a:solidFill>
                <a:schemeClr val="dk1"/>
              </a:solidFill>
              <a:latin typeface="Calibri"/>
              <a:ea typeface="Calibri"/>
              <a:cs typeface="Calibri"/>
            </a:endParaRPr>
          </a:p>
        </p:txBody>
      </p:sp>
      <p:sp>
        <p:nvSpPr>
          <p:cNvPr id="50" name="Google Shape;50;p4">
            <a:extLst>
              <a:ext uri="{FF2B5EF4-FFF2-40B4-BE49-F238E27FC236}">
                <a16:creationId xmlns:a16="http://schemas.microsoft.com/office/drawing/2014/main" id="{FBA43EA2-A43E-4213-A091-1BF6DEF36AEE}"/>
              </a:ext>
            </a:extLst>
          </p:cNvPr>
          <p:cNvSpPr>
            <a:spLocks noGrp="1"/>
          </p:cNvSpPr>
          <p:nvPr/>
        </p:nvSpPr>
        <p:spPr>
          <a:xfrm>
            <a:off x="1536192" y="2898648"/>
            <a:ext cx="4297680" cy="4572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600"/>
              <a:buFont typeface="Calibri"/>
              <a:buNone/>
              <a:defRPr sz="1500" b="1">
                <a:solidFill>
                  <a:srgbClr val="1F2948"/>
                </a:solidFill>
              </a:defRPr>
            </a:pPr>
            <a:r>
              <a:rPr sz="1500" b="1" i="0" u="none" cap="none">
                <a:solidFill>
                  <a:srgbClr val="1F2948"/>
                </a:solidFill>
                <a:latin typeface="Calibri"/>
                <a:ea typeface="Calibri"/>
                <a:cs typeface="Calibri"/>
              </a:rPr>
              <a:t>Technology Stack &amp; Work Plan</a:t>
            </a:r>
            <a:endParaRPr sz="1600" b="0" i="0" u="none" cap="none">
              <a:solidFill>
                <a:schemeClr val="dk1"/>
              </a:solidFill>
              <a:latin typeface="Calibri"/>
              <a:ea typeface="Calibri"/>
              <a:cs typeface="Calibri"/>
            </a:endParaRPr>
          </a:p>
        </p:txBody>
      </p:sp>
      <p:sp>
        <p:nvSpPr>
          <p:cNvPr id="51" name="Google Shape;51;p4">
            <a:extLst>
              <a:ext uri="{FF2B5EF4-FFF2-40B4-BE49-F238E27FC236}">
                <a16:creationId xmlns:a16="http://schemas.microsoft.com/office/drawing/2014/main" id="{5E3F7B79-5700-4A6D-B19A-E4A341FD92BF}"/>
              </a:ext>
            </a:extLst>
          </p:cNvPr>
          <p:cNvSpPr>
            <a:spLocks noGrp="1"/>
          </p:cNvSpPr>
          <p:nvPr/>
        </p:nvSpPr>
        <p:spPr>
          <a:xfrm>
            <a:off x="914400" y="3575304"/>
            <a:ext cx="420624" cy="420624"/>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2" name="Google Shape;52;p4">
            <a:extLst>
              <a:ext uri="{FF2B5EF4-FFF2-40B4-BE49-F238E27FC236}">
                <a16:creationId xmlns:a16="http://schemas.microsoft.com/office/drawing/2014/main" id="{2C91416F-E668-487A-8AF0-30999D112E21}"/>
              </a:ext>
            </a:extLst>
          </p:cNvPr>
          <p:cNvSpPr>
            <a:spLocks noGrp="1"/>
          </p:cNvSpPr>
          <p:nvPr/>
        </p:nvSpPr>
        <p:spPr>
          <a:xfrm>
            <a:off x="914400" y="3575304"/>
            <a:ext cx="420624" cy="420624"/>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4</a:t>
            </a:r>
            <a:endParaRPr sz="1400" b="0" i="0" u="none" cap="none">
              <a:solidFill>
                <a:schemeClr val="dk1"/>
              </a:solidFill>
              <a:latin typeface="Calibri"/>
              <a:ea typeface="Calibri"/>
              <a:cs typeface="Calibri"/>
            </a:endParaRPr>
          </a:p>
        </p:txBody>
      </p:sp>
      <p:sp>
        <p:nvSpPr>
          <p:cNvPr id="53" name="Google Shape;53;p4">
            <a:extLst>
              <a:ext uri="{FF2B5EF4-FFF2-40B4-BE49-F238E27FC236}">
                <a16:creationId xmlns:a16="http://schemas.microsoft.com/office/drawing/2014/main" id="{4791A7E6-85C9-44A7-BEBB-9CBB70FB08AF}"/>
              </a:ext>
            </a:extLst>
          </p:cNvPr>
          <p:cNvSpPr>
            <a:spLocks noGrp="1"/>
          </p:cNvSpPr>
          <p:nvPr/>
        </p:nvSpPr>
        <p:spPr>
          <a:xfrm>
            <a:off x="1536192" y="3557016"/>
            <a:ext cx="4297680" cy="4572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Literature Survey</a:t>
            </a:r>
            <a:endParaRPr sz="1600" b="0" i="0" u="none" cap="none">
              <a:solidFill>
                <a:schemeClr val="dk1"/>
              </a:solidFill>
              <a:latin typeface="Calibri"/>
              <a:ea typeface="Calibri"/>
              <a:cs typeface="Calibri"/>
            </a:endParaRPr>
          </a:p>
        </p:txBody>
      </p:sp>
      <p:sp>
        <p:nvSpPr>
          <p:cNvPr id="54" name="Google Shape;54;p4">
            <a:extLst>
              <a:ext uri="{FF2B5EF4-FFF2-40B4-BE49-F238E27FC236}">
                <a16:creationId xmlns:a16="http://schemas.microsoft.com/office/drawing/2014/main" id="{97DA9670-8D35-473A-8975-E452CAB70078}"/>
              </a:ext>
            </a:extLst>
          </p:cNvPr>
          <p:cNvSpPr>
            <a:spLocks noGrp="1"/>
          </p:cNvSpPr>
          <p:nvPr/>
        </p:nvSpPr>
        <p:spPr>
          <a:xfrm>
            <a:off x="6309360" y="1600200"/>
            <a:ext cx="420624" cy="420624"/>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5" name="Google Shape;55;p4">
            <a:extLst>
              <a:ext uri="{FF2B5EF4-FFF2-40B4-BE49-F238E27FC236}">
                <a16:creationId xmlns:a16="http://schemas.microsoft.com/office/drawing/2014/main" id="{C5092263-64BA-4359-9808-19E334DC90B8}"/>
              </a:ext>
            </a:extLst>
          </p:cNvPr>
          <p:cNvSpPr>
            <a:spLocks noGrp="1"/>
          </p:cNvSpPr>
          <p:nvPr/>
        </p:nvSpPr>
        <p:spPr>
          <a:xfrm>
            <a:off x="6309360" y="1600200"/>
            <a:ext cx="420624" cy="420624"/>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5</a:t>
            </a:r>
            <a:endParaRPr sz="1400" b="0" i="0" u="none" cap="none">
              <a:solidFill>
                <a:schemeClr val="dk1"/>
              </a:solidFill>
              <a:latin typeface="Calibri"/>
              <a:ea typeface="Calibri"/>
              <a:cs typeface="Calibri"/>
            </a:endParaRPr>
          </a:p>
        </p:txBody>
      </p:sp>
      <p:sp>
        <p:nvSpPr>
          <p:cNvPr id="56" name="Google Shape;56;p4">
            <a:extLst>
              <a:ext uri="{FF2B5EF4-FFF2-40B4-BE49-F238E27FC236}">
                <a16:creationId xmlns:a16="http://schemas.microsoft.com/office/drawing/2014/main" id="{B58B18CE-BECA-4496-8635-4FCE7A5113A1}"/>
              </a:ext>
            </a:extLst>
          </p:cNvPr>
          <p:cNvSpPr>
            <a:spLocks noGrp="1"/>
          </p:cNvSpPr>
          <p:nvPr/>
        </p:nvSpPr>
        <p:spPr>
          <a:xfrm>
            <a:off x="6931152" y="1581912"/>
            <a:ext cx="4297680" cy="4572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System Workflow / Architecture</a:t>
            </a:r>
            <a:endParaRPr sz="1600" b="0" i="0" u="none" cap="none">
              <a:solidFill>
                <a:schemeClr val="dk1"/>
              </a:solidFill>
              <a:latin typeface="Calibri"/>
              <a:ea typeface="Calibri"/>
              <a:cs typeface="Calibri"/>
            </a:endParaRPr>
          </a:p>
        </p:txBody>
      </p:sp>
      <p:sp>
        <p:nvSpPr>
          <p:cNvPr id="57" name="Google Shape;57;p4">
            <a:extLst>
              <a:ext uri="{FF2B5EF4-FFF2-40B4-BE49-F238E27FC236}">
                <a16:creationId xmlns:a16="http://schemas.microsoft.com/office/drawing/2014/main" id="{26EB6148-FFE9-4385-AE7E-D99EC125FAED}"/>
              </a:ext>
            </a:extLst>
          </p:cNvPr>
          <p:cNvSpPr>
            <a:spLocks noGrp="1"/>
          </p:cNvSpPr>
          <p:nvPr/>
        </p:nvSpPr>
        <p:spPr>
          <a:xfrm>
            <a:off x="6309360" y="2258568"/>
            <a:ext cx="420624" cy="420624"/>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8" name="Google Shape;58;p4">
            <a:extLst>
              <a:ext uri="{FF2B5EF4-FFF2-40B4-BE49-F238E27FC236}">
                <a16:creationId xmlns:a16="http://schemas.microsoft.com/office/drawing/2014/main" id="{BEFACD9B-0BB4-41F5-998E-8E3E8D995797}"/>
              </a:ext>
            </a:extLst>
          </p:cNvPr>
          <p:cNvSpPr>
            <a:spLocks noGrp="1"/>
          </p:cNvSpPr>
          <p:nvPr/>
        </p:nvSpPr>
        <p:spPr>
          <a:xfrm>
            <a:off x="6309360" y="2258568"/>
            <a:ext cx="420624" cy="420624"/>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6</a:t>
            </a:r>
            <a:endParaRPr sz="1400" b="0" i="0" u="none" cap="none">
              <a:solidFill>
                <a:schemeClr val="dk1"/>
              </a:solidFill>
              <a:latin typeface="Calibri"/>
              <a:ea typeface="Calibri"/>
              <a:cs typeface="Calibri"/>
            </a:endParaRPr>
          </a:p>
        </p:txBody>
      </p:sp>
      <p:sp>
        <p:nvSpPr>
          <p:cNvPr id="59" name="Google Shape;59;p4">
            <a:extLst>
              <a:ext uri="{FF2B5EF4-FFF2-40B4-BE49-F238E27FC236}">
                <a16:creationId xmlns:a16="http://schemas.microsoft.com/office/drawing/2014/main" id="{A9FF7CEE-F021-4B5E-9BC9-A8223EDB5697}"/>
              </a:ext>
            </a:extLst>
          </p:cNvPr>
          <p:cNvSpPr>
            <a:spLocks noGrp="1"/>
          </p:cNvSpPr>
          <p:nvPr/>
        </p:nvSpPr>
        <p:spPr>
          <a:xfrm>
            <a:off x="6931152" y="2240280"/>
            <a:ext cx="4297680" cy="4572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600"/>
              <a:buFont typeface="Calibri"/>
              <a:buNone/>
              <a:defRPr sz="1500" b="1">
                <a:solidFill>
                  <a:srgbClr val="1F2948"/>
                </a:solidFill>
              </a:defRPr>
            </a:pPr>
            <a:r>
              <a:rPr sz="1500" b="1" i="0" u="none" cap="none">
                <a:solidFill>
                  <a:srgbClr val="1F2948"/>
                </a:solidFill>
                <a:latin typeface="Calibri"/>
                <a:ea typeface="Calibri"/>
                <a:cs typeface="Calibri"/>
              </a:rPr>
              <a:t>Expected Outcomes &amp; Scope</a:t>
            </a:r>
            <a:endParaRPr sz="1600" b="0" i="0" u="none" cap="none">
              <a:solidFill>
                <a:schemeClr val="dk1"/>
              </a:solidFill>
              <a:latin typeface="Calibri"/>
              <a:ea typeface="Calibri"/>
              <a:cs typeface="Calibri"/>
            </a:endParaRPr>
          </a:p>
        </p:txBody>
      </p:sp>
      <p:sp>
        <p:nvSpPr>
          <p:cNvPr id="60" name="Google Shape;60;p4">
            <a:extLst>
              <a:ext uri="{FF2B5EF4-FFF2-40B4-BE49-F238E27FC236}">
                <a16:creationId xmlns:a16="http://schemas.microsoft.com/office/drawing/2014/main" id="{4F385EB5-7079-4D4F-83E0-A60DEA94607D}"/>
              </a:ext>
            </a:extLst>
          </p:cNvPr>
          <p:cNvSpPr>
            <a:spLocks noGrp="1"/>
          </p:cNvSpPr>
          <p:nvPr/>
        </p:nvSpPr>
        <p:spPr>
          <a:xfrm>
            <a:off x="6309360" y="2916936"/>
            <a:ext cx="420624" cy="420624"/>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61" name="Google Shape;61;p4">
            <a:extLst>
              <a:ext uri="{FF2B5EF4-FFF2-40B4-BE49-F238E27FC236}">
                <a16:creationId xmlns:a16="http://schemas.microsoft.com/office/drawing/2014/main" id="{C4119273-C9AB-47B7-9AA8-8499234F959A}"/>
              </a:ext>
            </a:extLst>
          </p:cNvPr>
          <p:cNvSpPr>
            <a:spLocks noGrp="1"/>
          </p:cNvSpPr>
          <p:nvPr/>
        </p:nvSpPr>
        <p:spPr>
          <a:xfrm>
            <a:off x="6309360" y="2916936"/>
            <a:ext cx="420624" cy="420624"/>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7</a:t>
            </a:r>
            <a:endParaRPr sz="1400" b="0" i="0" u="none" cap="none">
              <a:solidFill>
                <a:schemeClr val="dk1"/>
              </a:solidFill>
              <a:latin typeface="Calibri"/>
              <a:ea typeface="Calibri"/>
              <a:cs typeface="Calibri"/>
            </a:endParaRPr>
          </a:p>
        </p:txBody>
      </p:sp>
      <p:sp>
        <p:nvSpPr>
          <p:cNvPr id="62" name="Google Shape;62;p4">
            <a:extLst>
              <a:ext uri="{FF2B5EF4-FFF2-40B4-BE49-F238E27FC236}">
                <a16:creationId xmlns:a16="http://schemas.microsoft.com/office/drawing/2014/main" id="{33A6657E-D1C6-409E-B5EE-F6473E8A58DC}"/>
              </a:ext>
            </a:extLst>
          </p:cNvPr>
          <p:cNvSpPr>
            <a:spLocks noGrp="1"/>
          </p:cNvSpPr>
          <p:nvPr/>
        </p:nvSpPr>
        <p:spPr>
          <a:xfrm>
            <a:off x="6931152" y="2898648"/>
            <a:ext cx="4297680" cy="4572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References</a:t>
            </a:r>
            <a:endParaRPr sz="1600" b="0" i="0" u="none" cap="none">
              <a:solidFill>
                <a:schemeClr val="dk1"/>
              </a:solidFill>
              <a:latin typeface="Calibri"/>
              <a:ea typeface="Calibri"/>
              <a:cs typeface="Calibri"/>
            </a:endParaRPr>
          </a:p>
        </p:txBody>
      </p:sp>
      <p:sp>
        <p:nvSpPr>
          <p:cNvPr id="63" name="Google Shape;63;p4">
            <a:extLst>
              <a:ext uri="{FF2B5EF4-FFF2-40B4-BE49-F238E27FC236}">
                <a16:creationId xmlns:a16="http://schemas.microsoft.com/office/drawing/2014/main" id="{6AE00061-B7AF-4E21-9934-0CEB88426777}"/>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64" name="Google Shape;64;p4">
            <a:extLst>
              <a:ext uri="{FF2B5EF4-FFF2-40B4-BE49-F238E27FC236}">
                <a16:creationId xmlns:a16="http://schemas.microsoft.com/office/drawing/2014/main" id="{4D7F69F1-6C07-473E-B3DC-5AF3FECA5C69}"/>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2</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835102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70" name="Google Shape;70;p5">
            <a:extLst>
              <a:ext uri="{FF2B5EF4-FFF2-40B4-BE49-F238E27FC236}">
                <a16:creationId xmlns:a16="http://schemas.microsoft.com/office/drawing/2014/main" id="{0177B14D-E5F6-441C-85D3-23F0E161B3EA}"/>
              </a:ext>
            </a:extLst>
          </p:cNvPr>
          <p:cNvSpPr>
            <a:spLocks noGrp="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1" name="Google Shape;71;p5">
            <a:extLst>
              <a:ext uri="{FF2B5EF4-FFF2-40B4-BE49-F238E27FC236}">
                <a16:creationId xmlns:a16="http://schemas.microsoft.com/office/drawing/2014/main" id="{B0570432-B589-4052-ACF1-FF6FC19F03A9}"/>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2" name="Google Shape;72;p5">
            <a:extLst>
              <a:ext uri="{FF2B5EF4-FFF2-40B4-BE49-F238E27FC236}">
                <a16:creationId xmlns:a16="http://schemas.microsoft.com/office/drawing/2014/main" id="{B27B2B2E-F0B3-40FD-9773-884CD9203861}"/>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3" name="Google Shape;73;p5">
            <a:extLst>
              <a:ext uri="{FF2B5EF4-FFF2-40B4-BE49-F238E27FC236}">
                <a16:creationId xmlns:a16="http://schemas.microsoft.com/office/drawing/2014/main" id="{7EC8C798-1326-4C2B-AE78-3B045BE32705}"/>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02</a:t>
            </a:r>
            <a:endParaRPr sz="1600" b="0" i="0" u="none" cap="none">
              <a:solidFill>
                <a:schemeClr val="dk1"/>
              </a:solidFill>
              <a:latin typeface="Calibri"/>
              <a:ea typeface="Calibri"/>
              <a:cs typeface="Calibri"/>
            </a:endParaRPr>
          </a:p>
        </p:txBody>
      </p:sp>
      <p:sp>
        <p:nvSpPr>
          <p:cNvPr id="74" name="Google Shape;74;p5">
            <a:extLst>
              <a:ext uri="{FF2B5EF4-FFF2-40B4-BE49-F238E27FC236}">
                <a16:creationId xmlns:a16="http://schemas.microsoft.com/office/drawing/2014/main" id="{30DB9EF5-0643-40E6-8A8C-421453F09334}"/>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02</a:t>
            </a:r>
            <a:endParaRPr sz="1100" b="0" i="0" u="none" cap="none">
              <a:solidFill>
                <a:schemeClr val="dk1"/>
              </a:solidFill>
              <a:latin typeface="Calibri"/>
              <a:ea typeface="Calibri"/>
              <a:cs typeface="Calibri"/>
            </a:endParaRPr>
          </a:p>
        </p:txBody>
      </p:sp>
      <p:sp>
        <p:nvSpPr>
          <p:cNvPr id="75" name="Google Shape;75;p5">
            <a:extLst>
              <a:ext uri="{FF2B5EF4-FFF2-40B4-BE49-F238E27FC236}">
                <a16:creationId xmlns:a16="http://schemas.microsoft.com/office/drawing/2014/main" id="{704E3621-683B-4AE9-B7B6-C94F9491F07A}"/>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Problem Statement</a:t>
            </a:r>
            <a:endParaRPr sz="3000" b="0" i="0" u="none" cap="none">
              <a:solidFill>
                <a:schemeClr val="dk1"/>
              </a:solidFill>
              <a:latin typeface="Calibri"/>
              <a:ea typeface="Calibri"/>
              <a:cs typeface="Calibri"/>
            </a:endParaRPr>
          </a:p>
        </p:txBody>
      </p:sp>
      <p:sp>
        <p:nvSpPr>
          <p:cNvPr id="76" name="Google Shape;76;p5">
            <a:extLst>
              <a:ext uri="{FF2B5EF4-FFF2-40B4-BE49-F238E27FC236}">
                <a16:creationId xmlns:a16="http://schemas.microsoft.com/office/drawing/2014/main" id="{16718CE6-799F-4C12-8922-9302005AC7A5}"/>
              </a:ext>
            </a:extLst>
          </p:cNvPr>
          <p:cNvSpPr>
            <a:spLocks noGrp="1"/>
          </p:cNvSpPr>
          <p:nvPr/>
        </p:nvSpPr>
        <p:spPr>
          <a:xfrm>
            <a:off x="1234450" y="1543875"/>
            <a:ext cx="9849000" cy="4445400"/>
          </a:xfrm>
          <a:prstGeom prst="roundRect">
            <a:avLst>
              <a:gd name="adj" fmla="val 2564"/>
            </a:avLst>
          </a:prstGeom>
          <a:solidFill>
            <a:srgbClr val="FFFFFF"/>
          </a:solidFill>
          <a:ln w="12700" cmpd="sng">
            <a:solidFill>
              <a:srgbClr val="DEE4EF"/>
            </a:solidFill>
            <a:prstDash val="dash"/>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7" name="Google Shape;77;p5">
            <a:extLst>
              <a:ext uri="{FF2B5EF4-FFF2-40B4-BE49-F238E27FC236}">
                <a16:creationId xmlns:a16="http://schemas.microsoft.com/office/drawing/2014/main" id="{8CE469E1-9158-4303-BA4F-92747191B1DE}"/>
              </a:ext>
            </a:extLst>
          </p:cNvPr>
          <p:cNvSpPr>
            <a:spLocks noGrp="1"/>
          </p:cNvSpPr>
          <p:nvPr/>
        </p:nvSpPr>
        <p:spPr>
          <a:xfrm>
            <a:off x="1554475" y="1772638"/>
            <a:ext cx="9106200" cy="4216800"/>
          </a:xfrm>
          <a:prstGeom prst="rect">
            <a:avLst/>
          </a:prstGeom>
          <a:noFill/>
          <a:ln>
            <a:noFill/>
          </a:ln>
        </p:spPr>
        <p:txBody>
          <a:bodyPr spcFirstLastPara="1" wrap="square" lIns="91425" tIns="45700" rIns="91425" bIns="45700" anchor="ctr">
            <a:normAutofit/>
          </a:bodyPr>
          <a:lstStyle/>
          <a:p>
            <a:pPr marL="0" marR="0" lvl="0" indent="0" algn="l">
              <a:lnSpc>
                <a:spcPct val="130000"/>
              </a:lnSpc>
              <a:spcBef>
                <a:spcPts val="0"/>
              </a:spcBef>
              <a:spcAft>
                <a:spcPts val="0"/>
              </a:spcAft>
              <a:buClr>
                <a:srgbClr val="6B7593"/>
              </a:buClr>
              <a:buSzPts val="1400"/>
              <a:buFont typeface="Calibri"/>
              <a:buNone/>
              <a:defRPr sz="1425">
                <a:solidFill>
                  <a:srgbClr val="1F2948"/>
                </a:solidFill>
              </a:defRPr>
            </a:pPr>
            <a:r>
              <a:rPr sz="1425" b="0" i="1" u="none" cap="none">
                <a:solidFill>
                  <a:srgbClr val="1F2948"/>
                </a:solidFill>
                <a:latin typeface="Calibri"/>
                <a:ea typeface="Calibri"/>
                <a:cs typeface="Calibri"/>
              </a:rPr>
              <a:t>Retail invoices contain valuable sales information, but invoice-level records are difficult to analyse manually. Businesses need a clear view of daily and monthly sales patterns to estimate future demand. Manual analysis can miss trend, weekly behaviour, and changes in sales level.</a:t>
            </a:r>
            <a:endParaRPr sz="1400" b="0" i="0" u="none" cap="none">
              <a:solidFill>
                <a:schemeClr val="dk1"/>
              </a:solidFill>
              <a:latin typeface="Calibri"/>
              <a:ea typeface="Calibri"/>
              <a:cs typeface="Calibri"/>
            </a:endParaRPr>
          </a:p>
          <a:p>
            <a:pPr marL="0" marR="0" lvl="0" indent="0" algn="l">
              <a:lnSpc>
                <a:spcPct val="130000"/>
              </a:lnSpc>
              <a:spcBef>
                <a:spcPts val="0"/>
              </a:spcBef>
              <a:spcAft>
                <a:spcPts val="0"/>
              </a:spcAft>
              <a:buClr>
                <a:srgbClr val="6B7593"/>
              </a:buClr>
              <a:buSzPts val="1400"/>
              <a:buFont typeface="Calibri"/>
              <a:buNone/>
            </a:pPr>
            <a:endParaRPr sz="1400" b="0" i="0" u="none" cap="none">
              <a:solidFill>
                <a:schemeClr val="dk1"/>
              </a:solidFill>
              <a:latin typeface="Calibri"/>
              <a:ea typeface="Calibri"/>
              <a:cs typeface="Calibri"/>
            </a:endParaRPr>
          </a:p>
          <a:p>
            <a:pPr marL="0" marR="0" lvl="0" indent="0" algn="l">
              <a:lnSpc>
                <a:spcPct val="130000"/>
              </a:lnSpc>
              <a:spcBef>
                <a:spcPts val="0"/>
              </a:spcBef>
              <a:spcAft>
                <a:spcPts val="0"/>
              </a:spcAft>
              <a:buClr>
                <a:srgbClr val="6B7593"/>
              </a:buClr>
              <a:buSzPts val="1400"/>
              <a:buFont typeface="Calibri"/>
              <a:buNone/>
              <a:defRPr sz="1425">
                <a:solidFill>
                  <a:srgbClr val="1F2948"/>
                </a:solidFill>
              </a:defRPr>
            </a:pPr>
            <a:r>
              <a:rPr sz="1425" b="0" i="1" u="none" cap="none">
                <a:solidFill>
                  <a:srgbClr val="1F2948"/>
                </a:solidFill>
                <a:latin typeface="Calibri"/>
                <a:ea typeface="Calibri"/>
                <a:cs typeface="Calibri"/>
              </a:rPr>
              <a:t>The proposed system cleans transaction data, builds a chronological daily sales series, compares Naive, ARIMA, and SARIMA models, and presents the results in an interactive dashboard. Forecasts support decisions and should be interpreted with promotions, holidays, and stock availability in mind.</a:t>
            </a:r>
            <a:endParaRPr sz="1400" b="0" i="0" u="none" cap="none">
              <a:solidFill>
                <a:schemeClr val="dk1"/>
              </a:solidFill>
              <a:latin typeface="Calibri"/>
              <a:ea typeface="Calibri"/>
              <a:cs typeface="Calibri"/>
            </a:endParaRPr>
          </a:p>
        </p:txBody>
      </p:sp>
      <p:sp>
        <p:nvSpPr>
          <p:cNvPr id="78" name="Google Shape;78;p5">
            <a:extLst>
              <a:ext uri="{FF2B5EF4-FFF2-40B4-BE49-F238E27FC236}">
                <a16:creationId xmlns:a16="http://schemas.microsoft.com/office/drawing/2014/main" id="{E520564C-27E2-4FD7-80AF-6AC609E1A03E}"/>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79" name="Google Shape;79;p5">
            <a:extLst>
              <a:ext uri="{FF2B5EF4-FFF2-40B4-BE49-F238E27FC236}">
                <a16:creationId xmlns:a16="http://schemas.microsoft.com/office/drawing/2014/main" id="{E63A7CF8-C84A-42DF-B719-4277176B14BB}"/>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3</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7357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85" name="Google Shape;85;p6">
            <a:extLst>
              <a:ext uri="{FF2B5EF4-FFF2-40B4-BE49-F238E27FC236}">
                <a16:creationId xmlns:a16="http://schemas.microsoft.com/office/drawing/2014/main" id="{BAA556B0-C203-47ED-BB72-7F6B624A2426}"/>
              </a:ext>
            </a:extLst>
          </p:cNvPr>
          <p:cNvSpPr>
            <a:spLocks noGrp="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6" name="Google Shape;86;p6">
            <a:extLst>
              <a:ext uri="{FF2B5EF4-FFF2-40B4-BE49-F238E27FC236}">
                <a16:creationId xmlns:a16="http://schemas.microsoft.com/office/drawing/2014/main" id="{A2B156B0-CB49-4453-A4B7-A2E2E848818C}"/>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7" name="Google Shape;87;p6">
            <a:extLst>
              <a:ext uri="{FF2B5EF4-FFF2-40B4-BE49-F238E27FC236}">
                <a16:creationId xmlns:a16="http://schemas.microsoft.com/office/drawing/2014/main" id="{21F75A0E-BF2C-41D4-8F85-25525431C766}"/>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8" name="Google Shape;88;p6">
            <a:extLst>
              <a:ext uri="{FF2B5EF4-FFF2-40B4-BE49-F238E27FC236}">
                <a16:creationId xmlns:a16="http://schemas.microsoft.com/office/drawing/2014/main" id="{C1E7F883-BD27-459A-98EA-FF5742293A9C}"/>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03</a:t>
            </a:r>
            <a:endParaRPr sz="1600" b="0" i="0" u="none" cap="none">
              <a:solidFill>
                <a:schemeClr val="dk1"/>
              </a:solidFill>
              <a:latin typeface="Calibri"/>
              <a:ea typeface="Calibri"/>
              <a:cs typeface="Calibri"/>
            </a:endParaRPr>
          </a:p>
        </p:txBody>
      </p:sp>
      <p:sp>
        <p:nvSpPr>
          <p:cNvPr id="89" name="Google Shape;89;p6">
            <a:extLst>
              <a:ext uri="{FF2B5EF4-FFF2-40B4-BE49-F238E27FC236}">
                <a16:creationId xmlns:a16="http://schemas.microsoft.com/office/drawing/2014/main" id="{22515BB0-4D6B-462A-AF77-0899DA71CC0E}"/>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03</a:t>
            </a:r>
            <a:endParaRPr sz="1100" b="0" i="0" u="none" cap="none">
              <a:solidFill>
                <a:schemeClr val="dk1"/>
              </a:solidFill>
              <a:latin typeface="Calibri"/>
              <a:ea typeface="Calibri"/>
              <a:cs typeface="Calibri"/>
            </a:endParaRPr>
          </a:p>
        </p:txBody>
      </p:sp>
      <p:sp>
        <p:nvSpPr>
          <p:cNvPr id="90" name="Google Shape;90;p6">
            <a:extLst>
              <a:ext uri="{FF2B5EF4-FFF2-40B4-BE49-F238E27FC236}">
                <a16:creationId xmlns:a16="http://schemas.microsoft.com/office/drawing/2014/main" id="{4BCBCB86-2C62-476C-8E66-7F83F37B47D4}"/>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Objectives</a:t>
            </a:r>
            <a:endParaRPr sz="3000" b="0" i="0" u="none" cap="none">
              <a:solidFill>
                <a:schemeClr val="dk1"/>
              </a:solidFill>
              <a:latin typeface="Calibri"/>
              <a:ea typeface="Calibri"/>
              <a:cs typeface="Calibri"/>
            </a:endParaRPr>
          </a:p>
        </p:txBody>
      </p:sp>
      <p:sp>
        <p:nvSpPr>
          <p:cNvPr id="91" name="Google Shape;91;p6">
            <a:extLst>
              <a:ext uri="{FF2B5EF4-FFF2-40B4-BE49-F238E27FC236}">
                <a16:creationId xmlns:a16="http://schemas.microsoft.com/office/drawing/2014/main" id="{D9EC960D-301A-495C-B8E6-AC8D866A5340}"/>
              </a:ext>
            </a:extLst>
          </p:cNvPr>
          <p:cNvSpPr>
            <a:spLocks noGrp="1"/>
          </p:cNvSpPr>
          <p:nvPr/>
        </p:nvSpPr>
        <p:spPr>
          <a:xfrm>
            <a:off x="1234415" y="1632220"/>
            <a:ext cx="4663500" cy="1828800"/>
          </a:xfrm>
          <a:prstGeom prst="roundRect">
            <a:avLst>
              <a:gd name="adj" fmla="val 5000"/>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92" name="Google Shape;92;p6">
            <a:extLst>
              <a:ext uri="{FF2B5EF4-FFF2-40B4-BE49-F238E27FC236}">
                <a16:creationId xmlns:a16="http://schemas.microsoft.com/office/drawing/2014/main" id="{472E9140-6640-4696-A812-1C3D6081DF7D}"/>
              </a:ext>
            </a:extLst>
          </p:cNvPr>
          <p:cNvSpPr>
            <a:spLocks noGrp="1"/>
          </p:cNvSpPr>
          <p:nvPr/>
        </p:nvSpPr>
        <p:spPr>
          <a:xfrm>
            <a:off x="1463040" y="2286000"/>
            <a:ext cx="1005840" cy="9144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01</a:t>
            </a:r>
            <a:endParaRPr sz="4000" b="0" i="0" u="none" cap="none">
              <a:solidFill>
                <a:schemeClr val="dk1"/>
              </a:solidFill>
              <a:latin typeface="Calibri"/>
              <a:ea typeface="Calibri"/>
              <a:cs typeface="Calibri"/>
            </a:endParaRPr>
          </a:p>
        </p:txBody>
      </p:sp>
      <p:sp>
        <p:nvSpPr>
          <p:cNvPr id="93" name="Google Shape;93;p6">
            <a:extLst>
              <a:ext uri="{FF2B5EF4-FFF2-40B4-BE49-F238E27FC236}">
                <a16:creationId xmlns:a16="http://schemas.microsoft.com/office/drawing/2014/main" id="{3EE0BB83-A2A0-4A44-908D-115E16ACFF36}"/>
              </a:ext>
            </a:extLst>
          </p:cNvPr>
          <p:cNvSpPr>
            <a:spLocks noGrp="1"/>
          </p:cNvSpPr>
          <p:nvPr/>
        </p:nvSpPr>
        <p:spPr>
          <a:xfrm>
            <a:off x="2423160" y="2107683"/>
            <a:ext cx="3291900" cy="13716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300"/>
              <a:buFont typeface="Calibri"/>
              <a:buNone/>
              <a:defRPr sz="1200" b="0">
                <a:solidFill>
                  <a:srgbClr val="1F2948"/>
                </a:solidFill>
              </a:defRPr>
            </a:pPr>
            <a:r>
              <a:rPr sz="1200" b="0">
                <a:solidFill>
                  <a:srgbClr val="1F2948"/>
                </a:solidFill>
              </a:rPr>
              <a:t>Create a complete daily sales series from cleaned retail transactions.</a:t>
            </a:r>
            <a:endParaRPr sz="1300" b="0" i="0" u="none" cap="none">
              <a:solidFill>
                <a:schemeClr val="dk1"/>
              </a:solidFill>
              <a:latin typeface="Calibri"/>
              <a:ea typeface="Calibri"/>
              <a:cs typeface="Calibri"/>
            </a:endParaRPr>
          </a:p>
        </p:txBody>
      </p:sp>
      <p:sp>
        <p:nvSpPr>
          <p:cNvPr id="94" name="Google Shape;94;p6">
            <a:extLst>
              <a:ext uri="{FF2B5EF4-FFF2-40B4-BE49-F238E27FC236}">
                <a16:creationId xmlns:a16="http://schemas.microsoft.com/office/drawing/2014/main" id="{1AE53FF5-E992-4811-BD30-F23B6636657D}"/>
              </a:ext>
            </a:extLst>
          </p:cNvPr>
          <p:cNvSpPr>
            <a:spLocks noGrp="1"/>
          </p:cNvSpPr>
          <p:nvPr/>
        </p:nvSpPr>
        <p:spPr>
          <a:xfrm>
            <a:off x="6355055" y="1632220"/>
            <a:ext cx="4663500" cy="1828800"/>
          </a:xfrm>
          <a:prstGeom prst="roundRect">
            <a:avLst>
              <a:gd name="adj" fmla="val 5000"/>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95" name="Google Shape;95;p6">
            <a:extLst>
              <a:ext uri="{FF2B5EF4-FFF2-40B4-BE49-F238E27FC236}">
                <a16:creationId xmlns:a16="http://schemas.microsoft.com/office/drawing/2014/main" id="{B176C37C-0198-45F7-9C86-28E0B16BE4E1}"/>
              </a:ext>
            </a:extLst>
          </p:cNvPr>
          <p:cNvSpPr>
            <a:spLocks noGrp="1"/>
          </p:cNvSpPr>
          <p:nvPr/>
        </p:nvSpPr>
        <p:spPr>
          <a:xfrm>
            <a:off x="6583680" y="2286000"/>
            <a:ext cx="1005840" cy="9144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02</a:t>
            </a:r>
            <a:endParaRPr sz="4000" b="0" i="0" u="none" cap="none">
              <a:solidFill>
                <a:schemeClr val="dk1"/>
              </a:solidFill>
              <a:latin typeface="Calibri"/>
              <a:ea typeface="Calibri"/>
              <a:cs typeface="Calibri"/>
            </a:endParaRPr>
          </a:p>
        </p:txBody>
      </p:sp>
      <p:sp>
        <p:nvSpPr>
          <p:cNvPr id="96" name="Google Shape;96;p6">
            <a:extLst>
              <a:ext uri="{FF2B5EF4-FFF2-40B4-BE49-F238E27FC236}">
                <a16:creationId xmlns:a16="http://schemas.microsoft.com/office/drawing/2014/main" id="{A68F392D-617E-43DA-8583-7209DF9D20B7}"/>
              </a:ext>
            </a:extLst>
          </p:cNvPr>
          <p:cNvSpPr>
            <a:spLocks noGrp="1"/>
          </p:cNvSpPr>
          <p:nvPr/>
        </p:nvSpPr>
        <p:spPr>
          <a:xfrm>
            <a:off x="7543775" y="2016245"/>
            <a:ext cx="3291900" cy="13716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300"/>
              <a:buFont typeface="Calibri"/>
              <a:buNone/>
              <a:defRPr sz="1200" b="0">
                <a:solidFill>
                  <a:srgbClr val="1F2948"/>
                </a:solidFill>
              </a:defRPr>
            </a:pPr>
            <a:r>
              <a:rPr sz="1200" b="0">
                <a:solidFill>
                  <a:srgbClr val="1F2948"/>
                </a:solidFill>
              </a:rPr>
              <a:t>Analyse sales, quantity, products, countries, trend, and seasonality.</a:t>
            </a:r>
            <a:endParaRPr sz="1300" b="0" i="0" u="none" cap="none">
              <a:solidFill>
                <a:schemeClr val="dk1"/>
              </a:solidFill>
              <a:latin typeface="Calibri"/>
              <a:ea typeface="Calibri"/>
              <a:cs typeface="Calibri"/>
            </a:endParaRPr>
          </a:p>
        </p:txBody>
      </p:sp>
      <p:sp>
        <p:nvSpPr>
          <p:cNvPr id="97" name="Google Shape;97;p6">
            <a:extLst>
              <a:ext uri="{FF2B5EF4-FFF2-40B4-BE49-F238E27FC236}">
                <a16:creationId xmlns:a16="http://schemas.microsoft.com/office/drawing/2014/main" id="{AECC293B-3107-49B1-BC43-5A4850623048}"/>
              </a:ext>
            </a:extLst>
          </p:cNvPr>
          <p:cNvSpPr>
            <a:spLocks noGrp="1"/>
          </p:cNvSpPr>
          <p:nvPr/>
        </p:nvSpPr>
        <p:spPr>
          <a:xfrm>
            <a:off x="1234440" y="4160520"/>
            <a:ext cx="4663440" cy="1828800"/>
          </a:xfrm>
          <a:prstGeom prst="roundRect">
            <a:avLst>
              <a:gd name="adj" fmla="val 5000"/>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98" name="Google Shape;98;p6">
            <a:extLst>
              <a:ext uri="{FF2B5EF4-FFF2-40B4-BE49-F238E27FC236}">
                <a16:creationId xmlns:a16="http://schemas.microsoft.com/office/drawing/2014/main" id="{3B5F67B5-112F-46B6-9AE7-3300608CC8EA}"/>
              </a:ext>
            </a:extLst>
          </p:cNvPr>
          <p:cNvSpPr>
            <a:spLocks noGrp="1"/>
          </p:cNvSpPr>
          <p:nvPr/>
        </p:nvSpPr>
        <p:spPr>
          <a:xfrm>
            <a:off x="1463040" y="4343400"/>
            <a:ext cx="1005840" cy="9144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03</a:t>
            </a:r>
            <a:endParaRPr sz="4000" b="0" i="0" u="none" cap="none">
              <a:solidFill>
                <a:schemeClr val="dk1"/>
              </a:solidFill>
              <a:latin typeface="Calibri"/>
              <a:ea typeface="Calibri"/>
              <a:cs typeface="Calibri"/>
            </a:endParaRPr>
          </a:p>
        </p:txBody>
      </p:sp>
      <p:sp>
        <p:nvSpPr>
          <p:cNvPr id="99" name="Google Shape;99;p6">
            <a:extLst>
              <a:ext uri="{FF2B5EF4-FFF2-40B4-BE49-F238E27FC236}">
                <a16:creationId xmlns:a16="http://schemas.microsoft.com/office/drawing/2014/main" id="{B9A21FE0-395C-4291-BA4D-35697D38D9B2}"/>
              </a:ext>
            </a:extLst>
          </p:cNvPr>
          <p:cNvSpPr>
            <a:spLocks noGrp="1"/>
          </p:cNvSpPr>
          <p:nvPr/>
        </p:nvSpPr>
        <p:spPr>
          <a:xfrm>
            <a:off x="2423160" y="4389120"/>
            <a:ext cx="3291840" cy="13716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300"/>
              <a:buFont typeface="Calibri"/>
              <a:buNone/>
              <a:defRPr sz="1200" b="0">
                <a:solidFill>
                  <a:srgbClr val="1F2948"/>
                </a:solidFill>
              </a:defRPr>
            </a:pPr>
            <a:r>
              <a:rPr sz="1200" b="0">
                <a:solidFill>
                  <a:srgbClr val="1F2948"/>
                </a:solidFill>
              </a:rPr>
              <a:t>Compare Naive, ARIMA, and SARIMA using MAE, RMSE, and MAPE.</a:t>
            </a:r>
            <a:endParaRPr sz="1300" b="0" i="0" u="none" cap="none">
              <a:solidFill>
                <a:schemeClr val="dk1"/>
              </a:solidFill>
              <a:latin typeface="Calibri"/>
              <a:ea typeface="Calibri"/>
              <a:cs typeface="Calibri"/>
            </a:endParaRPr>
          </a:p>
        </p:txBody>
      </p:sp>
      <p:sp>
        <p:nvSpPr>
          <p:cNvPr id="100" name="Google Shape;100;p6">
            <a:extLst>
              <a:ext uri="{FF2B5EF4-FFF2-40B4-BE49-F238E27FC236}">
                <a16:creationId xmlns:a16="http://schemas.microsoft.com/office/drawing/2014/main" id="{0D78260A-8244-421A-9177-2BBA3B0965FD}"/>
              </a:ext>
            </a:extLst>
          </p:cNvPr>
          <p:cNvSpPr>
            <a:spLocks noGrp="1"/>
          </p:cNvSpPr>
          <p:nvPr/>
        </p:nvSpPr>
        <p:spPr>
          <a:xfrm>
            <a:off x="6355080" y="4160520"/>
            <a:ext cx="4663440" cy="1828800"/>
          </a:xfrm>
          <a:prstGeom prst="roundRect">
            <a:avLst>
              <a:gd name="adj" fmla="val 5000"/>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01" name="Google Shape;101;p6">
            <a:extLst>
              <a:ext uri="{FF2B5EF4-FFF2-40B4-BE49-F238E27FC236}">
                <a16:creationId xmlns:a16="http://schemas.microsoft.com/office/drawing/2014/main" id="{1B70909E-5E90-49CE-B2B3-05FF64842516}"/>
              </a:ext>
            </a:extLst>
          </p:cNvPr>
          <p:cNvSpPr>
            <a:spLocks noGrp="1"/>
          </p:cNvSpPr>
          <p:nvPr/>
        </p:nvSpPr>
        <p:spPr>
          <a:xfrm>
            <a:off x="6583680" y="4343400"/>
            <a:ext cx="1005840" cy="91440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04</a:t>
            </a:r>
            <a:endParaRPr sz="4000" b="0" i="0" u="none" cap="none">
              <a:solidFill>
                <a:schemeClr val="dk1"/>
              </a:solidFill>
              <a:latin typeface="Calibri"/>
              <a:ea typeface="Calibri"/>
              <a:cs typeface="Calibri"/>
            </a:endParaRPr>
          </a:p>
        </p:txBody>
      </p:sp>
      <p:sp>
        <p:nvSpPr>
          <p:cNvPr id="102" name="Google Shape;102;p6">
            <a:extLst>
              <a:ext uri="{FF2B5EF4-FFF2-40B4-BE49-F238E27FC236}">
                <a16:creationId xmlns:a16="http://schemas.microsoft.com/office/drawing/2014/main" id="{94E92F93-77E7-4AAC-A635-3784D035D829}"/>
              </a:ext>
            </a:extLst>
          </p:cNvPr>
          <p:cNvSpPr>
            <a:spLocks noGrp="1"/>
          </p:cNvSpPr>
          <p:nvPr/>
        </p:nvSpPr>
        <p:spPr>
          <a:xfrm>
            <a:off x="7543800" y="4389120"/>
            <a:ext cx="3291840" cy="13716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300"/>
              <a:buFont typeface="Calibri"/>
              <a:buNone/>
              <a:defRPr sz="1200" b="0">
                <a:solidFill>
                  <a:srgbClr val="1F2948"/>
                </a:solidFill>
              </a:defRPr>
            </a:pPr>
            <a:r>
              <a:rPr sz="1200" b="0">
                <a:solidFill>
                  <a:srgbClr val="1F2948"/>
                </a:solidFill>
              </a:rPr>
              <a:t>Generate a 30-day forecast and show results in Streamlit.</a:t>
            </a:r>
            <a:endParaRPr sz="1300" b="0" i="0" u="none" cap="none">
              <a:solidFill>
                <a:schemeClr val="dk1"/>
              </a:solidFill>
              <a:latin typeface="Calibri"/>
              <a:ea typeface="Calibri"/>
              <a:cs typeface="Calibri"/>
            </a:endParaRPr>
          </a:p>
        </p:txBody>
      </p:sp>
      <p:sp>
        <p:nvSpPr>
          <p:cNvPr id="103" name="Google Shape;103;p6">
            <a:extLst>
              <a:ext uri="{FF2B5EF4-FFF2-40B4-BE49-F238E27FC236}">
                <a16:creationId xmlns:a16="http://schemas.microsoft.com/office/drawing/2014/main" id="{7A8414F2-23E7-409B-8872-A22E089DFF31}"/>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104" name="Google Shape;104;p6">
            <a:extLst>
              <a:ext uri="{FF2B5EF4-FFF2-40B4-BE49-F238E27FC236}">
                <a16:creationId xmlns:a16="http://schemas.microsoft.com/office/drawing/2014/main" id="{00979EC1-4F69-4B4F-988F-BC848AF1D69A}"/>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4</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728673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110" name="Google Shape;110;p7">
            <a:extLst>
              <a:ext uri="{FF2B5EF4-FFF2-40B4-BE49-F238E27FC236}">
                <a16:creationId xmlns:a16="http://schemas.microsoft.com/office/drawing/2014/main" id="{894B0926-DE5E-49C6-8152-F27A36744C7F}"/>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1" name="Google Shape;111;p7">
            <a:extLst>
              <a:ext uri="{FF2B5EF4-FFF2-40B4-BE49-F238E27FC236}">
                <a16:creationId xmlns:a16="http://schemas.microsoft.com/office/drawing/2014/main" id="{163EABC4-03FA-43F3-974C-7C0CBFF6473C}"/>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2" name="Google Shape;112;p7">
            <a:extLst>
              <a:ext uri="{FF2B5EF4-FFF2-40B4-BE49-F238E27FC236}">
                <a16:creationId xmlns:a16="http://schemas.microsoft.com/office/drawing/2014/main" id="{B4BB172C-DABF-4E3D-BD9A-9789DE13684C}"/>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04</a:t>
            </a:r>
            <a:endParaRPr sz="1600" b="0" i="0" u="none" cap="none">
              <a:solidFill>
                <a:schemeClr val="dk1"/>
              </a:solidFill>
              <a:latin typeface="Calibri"/>
              <a:ea typeface="Calibri"/>
              <a:cs typeface="Calibri"/>
            </a:endParaRPr>
          </a:p>
        </p:txBody>
      </p:sp>
      <p:sp>
        <p:nvSpPr>
          <p:cNvPr id="113" name="Google Shape;113;p7">
            <a:extLst>
              <a:ext uri="{FF2B5EF4-FFF2-40B4-BE49-F238E27FC236}">
                <a16:creationId xmlns:a16="http://schemas.microsoft.com/office/drawing/2014/main" id="{409BC69A-1B0A-41B8-8317-A28F5E95CDC5}"/>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04</a:t>
            </a:r>
            <a:endParaRPr sz="1100" b="0" i="0" u="none" cap="none">
              <a:solidFill>
                <a:schemeClr val="dk1"/>
              </a:solidFill>
              <a:latin typeface="Calibri"/>
              <a:ea typeface="Calibri"/>
              <a:cs typeface="Calibri"/>
            </a:endParaRPr>
          </a:p>
        </p:txBody>
      </p:sp>
      <p:sp>
        <p:nvSpPr>
          <p:cNvPr id="114" name="Google Shape;114;p7">
            <a:extLst>
              <a:ext uri="{FF2B5EF4-FFF2-40B4-BE49-F238E27FC236}">
                <a16:creationId xmlns:a16="http://schemas.microsoft.com/office/drawing/2014/main" id="{F27A85F7-C471-4BD1-A0CC-41825A114CF4}"/>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Technology Stack</a:t>
            </a:r>
            <a:endParaRPr sz="3000" b="0" i="0" u="none" cap="none">
              <a:solidFill>
                <a:schemeClr val="dk1"/>
              </a:solidFill>
              <a:latin typeface="Calibri"/>
              <a:ea typeface="Calibri"/>
              <a:cs typeface="Calibri"/>
            </a:endParaRPr>
          </a:p>
        </p:txBody>
      </p:sp>
      <p:sp>
        <p:nvSpPr>
          <p:cNvPr id="115" name="Google Shape;115;p7">
            <a:extLst>
              <a:ext uri="{FF2B5EF4-FFF2-40B4-BE49-F238E27FC236}">
                <a16:creationId xmlns:a16="http://schemas.microsoft.com/office/drawing/2014/main" id="{72C37479-47CF-450D-9203-48AC4E2DF7DF}"/>
              </a:ext>
            </a:extLst>
          </p:cNvPr>
          <p:cNvSpPr>
            <a:spLocks noGrp="1"/>
          </p:cNvSpPr>
          <p:nvPr/>
        </p:nvSpPr>
        <p:spPr>
          <a:xfrm>
            <a:off x="1244307" y="1553707"/>
            <a:ext cx="9849000" cy="4445400"/>
          </a:xfrm>
          <a:prstGeom prst="roundRect">
            <a:avLst>
              <a:gd name="adj" fmla="val 2817"/>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6" name="Google Shape;116;p7">
            <a:extLst>
              <a:ext uri="{FF2B5EF4-FFF2-40B4-BE49-F238E27FC236}">
                <a16:creationId xmlns:a16="http://schemas.microsoft.com/office/drawing/2014/main" id="{57B969B4-B635-41D4-A095-83D1A52B920E}"/>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117" name="Google Shape;117;p7">
            <a:extLst>
              <a:ext uri="{FF2B5EF4-FFF2-40B4-BE49-F238E27FC236}">
                <a16:creationId xmlns:a16="http://schemas.microsoft.com/office/drawing/2014/main" id="{5808C22B-4065-42E0-A141-C736C2D3E8C2}"/>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5</a:t>
            </a:r>
            <a:endParaRPr sz="900" b="0" i="0" u="none" cap="none">
              <a:solidFill>
                <a:schemeClr val="dk1"/>
              </a:solidFill>
              <a:latin typeface="Calibri"/>
              <a:ea typeface="Calibri"/>
              <a:cs typeface="Calibri"/>
            </a:endParaRPr>
          </a:p>
        </p:txBody>
      </p:sp>
      <p:sp>
        <p:nvSpPr>
          <p:cNvPr id="118" name="Rectangle: Rounded Corners 117">
            <a:extLst>
              <a:ext uri="{FF2B5EF4-FFF2-40B4-BE49-F238E27FC236}">
                <a16:creationId xmlns:a16="http://schemas.microsoft.com/office/drawing/2014/main" id="{0FB5195E-587D-401D-9FF1-C0AAA66855C3}"/>
              </a:ext>
            </a:extLst>
          </p:cNvPr>
          <p:cNvSpPr>
            <a:spLocks noGrp="1"/>
          </p:cNvSpPr>
          <p:nvPr/>
        </p:nvSpPr>
        <p:spPr>
          <a:xfrm>
            <a:off x="1571625" y="1905000"/>
            <a:ext cx="2762250" cy="1257300"/>
          </a:xfrm>
          <a:prstGeom prst="roundRect">
            <a:avLst>
              <a:gd name="adj" fmla="val 9091"/>
            </a:avLst>
          </a:prstGeom>
          <a:solidFill>
            <a:srgbClr val="FFFFFF"/>
          </a:solidFill>
          <a:ln w="9525">
            <a:solidFill>
              <a:srgbClr val="D7E1F0"/>
            </a:solidFill>
            <a:prstDash val="solid"/>
          </a:ln>
        </p:spPr>
      </p:sp>
      <p:sp>
        <p:nvSpPr>
          <p:cNvPr id="119" name="Rectangle 118">
            <a:extLst>
              <a:ext uri="{FF2B5EF4-FFF2-40B4-BE49-F238E27FC236}">
                <a16:creationId xmlns:a16="http://schemas.microsoft.com/office/drawing/2014/main" id="{F46544D0-7BFA-4DD7-BDC9-58E4E51B4C54}"/>
              </a:ext>
            </a:extLst>
          </p:cNvPr>
          <p:cNvSpPr>
            <a:spLocks noGrp="1"/>
          </p:cNvSpPr>
          <p:nvPr/>
        </p:nvSpPr>
        <p:spPr>
          <a:xfrm>
            <a:off x="1762125" y="2085975"/>
            <a:ext cx="2381250" cy="266700"/>
          </a:xfrm>
          <a:prstGeom prst="rect">
            <a:avLst/>
          </a:prstGeom>
          <a:noFill/>
          <a:ln w="0">
            <a:noFill/>
          </a:ln>
        </p:spPr>
        <p:txBody>
          <a:bodyPr>
            <a:normAutofit fontScale="97696" lnSpcReduction="10000"/>
          </a:bodyPr>
          <a:lstStyle/>
          <a:p>
            <a:pPr>
              <a:defRPr sz="1275" b="1">
                <a:solidFill>
                  <a:srgbClr val="1C789A"/>
                </a:solidFill>
              </a:defRPr>
            </a:pPr>
            <a:r>
              <a:rPr sz="1275" b="1">
                <a:solidFill>
                  <a:srgbClr val="1C789A"/>
                </a:solidFill>
              </a:rPr>
              <a:t>Data &amp; analysis</a:t>
            </a:r>
          </a:p>
        </p:txBody>
      </p:sp>
      <p:sp>
        <p:nvSpPr>
          <p:cNvPr id="120" name="Rectangle 119">
            <a:extLst>
              <a:ext uri="{FF2B5EF4-FFF2-40B4-BE49-F238E27FC236}">
                <a16:creationId xmlns:a16="http://schemas.microsoft.com/office/drawing/2014/main" id="{DD2CF3F9-3CD4-466C-8552-BAC493BF3C84}"/>
              </a:ext>
            </a:extLst>
          </p:cNvPr>
          <p:cNvSpPr>
            <a:spLocks noGrp="1"/>
          </p:cNvSpPr>
          <p:nvPr/>
        </p:nvSpPr>
        <p:spPr>
          <a:xfrm>
            <a:off x="1762125" y="2419350"/>
            <a:ext cx="2381250" cy="590550"/>
          </a:xfrm>
          <a:prstGeom prst="rect">
            <a:avLst/>
          </a:prstGeom>
          <a:noFill/>
          <a:ln w="0">
            <a:noFill/>
          </a:ln>
        </p:spPr>
        <p:txBody>
          <a:bodyPr>
            <a:normAutofit fontScale="97037" lnSpcReduction="10000"/>
          </a:bodyPr>
          <a:lstStyle/>
          <a:p>
            <a:pPr>
              <a:defRPr sz="1125">
                <a:solidFill>
                  <a:srgbClr val="1F2948"/>
                </a:solidFill>
              </a:defRPr>
            </a:pPr>
            <a:r>
              <a:rPr sz="1125">
                <a:solidFill>
                  <a:srgbClr val="1F2948"/>
                </a:solidFill>
              </a:rPr>
              <a:t>Python</a:t>
            </a:r>
          </a:p>
          <a:p>
            <a:pPr>
              <a:defRPr sz="1125">
                <a:solidFill>
                  <a:srgbClr val="1F2948"/>
                </a:solidFill>
              </a:defRPr>
            </a:pPr>
            <a:r>
              <a:rPr sz="1125">
                <a:solidFill>
                  <a:srgbClr val="1F2948"/>
                </a:solidFill>
              </a:rPr>
              <a:t>Pandas · NumPy · openpyxl</a:t>
            </a:r>
          </a:p>
          <a:p>
            <a:pPr>
              <a:defRPr sz="1125">
                <a:solidFill>
                  <a:srgbClr val="1F2948"/>
                </a:solidFill>
              </a:defRPr>
            </a:pPr>
            <a:r>
              <a:rPr sz="1125">
                <a:solidFill>
                  <a:srgbClr val="1F2948"/>
                </a:solidFill>
              </a:rPr>
              <a:t>Matplotlib · Plotly</a:t>
            </a:r>
          </a:p>
        </p:txBody>
      </p:sp>
      <p:sp>
        <p:nvSpPr>
          <p:cNvPr id="121" name="Rectangle: Rounded Corners 120">
            <a:extLst>
              <a:ext uri="{FF2B5EF4-FFF2-40B4-BE49-F238E27FC236}">
                <a16:creationId xmlns:a16="http://schemas.microsoft.com/office/drawing/2014/main" id="{DD2BD9CE-92CB-446D-8454-C073D49014FB}"/>
              </a:ext>
            </a:extLst>
          </p:cNvPr>
          <p:cNvSpPr>
            <a:spLocks noGrp="1"/>
          </p:cNvSpPr>
          <p:nvPr/>
        </p:nvSpPr>
        <p:spPr>
          <a:xfrm>
            <a:off x="4714875" y="1905000"/>
            <a:ext cx="2762250" cy="1257300"/>
          </a:xfrm>
          <a:prstGeom prst="roundRect">
            <a:avLst>
              <a:gd name="adj" fmla="val 9091"/>
            </a:avLst>
          </a:prstGeom>
          <a:solidFill>
            <a:srgbClr val="FFFFFF"/>
          </a:solidFill>
          <a:ln w="9525">
            <a:solidFill>
              <a:srgbClr val="D7E1F0"/>
            </a:solidFill>
            <a:prstDash val="solid"/>
          </a:ln>
        </p:spPr>
      </p:sp>
      <p:sp>
        <p:nvSpPr>
          <p:cNvPr id="122" name="Rectangle 121">
            <a:extLst>
              <a:ext uri="{FF2B5EF4-FFF2-40B4-BE49-F238E27FC236}">
                <a16:creationId xmlns:a16="http://schemas.microsoft.com/office/drawing/2014/main" id="{1F8BBF0F-1AC3-414A-8FA1-AE8E4AF723A8}"/>
              </a:ext>
            </a:extLst>
          </p:cNvPr>
          <p:cNvSpPr>
            <a:spLocks noGrp="1"/>
          </p:cNvSpPr>
          <p:nvPr/>
        </p:nvSpPr>
        <p:spPr>
          <a:xfrm>
            <a:off x="4905375" y="2085975"/>
            <a:ext cx="2381250" cy="266700"/>
          </a:xfrm>
          <a:prstGeom prst="rect">
            <a:avLst/>
          </a:prstGeom>
          <a:noFill/>
          <a:ln w="0">
            <a:noFill/>
          </a:ln>
        </p:spPr>
        <p:txBody>
          <a:bodyPr>
            <a:normAutofit fontScale="97696" lnSpcReduction="10000"/>
          </a:bodyPr>
          <a:lstStyle/>
          <a:p>
            <a:pPr>
              <a:defRPr sz="1275" b="1">
                <a:solidFill>
                  <a:srgbClr val="1C789A"/>
                </a:solidFill>
              </a:defRPr>
            </a:pPr>
            <a:r>
              <a:rPr sz="1275" b="1">
                <a:solidFill>
                  <a:srgbClr val="1C789A"/>
                </a:solidFill>
              </a:rPr>
              <a:t>Forecasting</a:t>
            </a:r>
          </a:p>
        </p:txBody>
      </p:sp>
      <p:sp>
        <p:nvSpPr>
          <p:cNvPr id="123" name="Rectangle 122">
            <a:extLst>
              <a:ext uri="{FF2B5EF4-FFF2-40B4-BE49-F238E27FC236}">
                <a16:creationId xmlns:a16="http://schemas.microsoft.com/office/drawing/2014/main" id="{ABABB7B3-5738-4590-8ACE-12A8DE371FDA}"/>
              </a:ext>
            </a:extLst>
          </p:cNvPr>
          <p:cNvSpPr>
            <a:spLocks noGrp="1"/>
          </p:cNvSpPr>
          <p:nvPr/>
        </p:nvSpPr>
        <p:spPr>
          <a:xfrm>
            <a:off x="4905375" y="2419350"/>
            <a:ext cx="2381250" cy="590550"/>
          </a:xfrm>
          <a:prstGeom prst="rect">
            <a:avLst/>
          </a:prstGeom>
          <a:noFill/>
          <a:ln w="0">
            <a:noFill/>
          </a:ln>
        </p:spPr>
        <p:txBody>
          <a:bodyPr>
            <a:normAutofit fontScale="97037" lnSpcReduction="10000"/>
          </a:bodyPr>
          <a:lstStyle/>
          <a:p>
            <a:pPr>
              <a:defRPr sz="1125">
                <a:solidFill>
                  <a:srgbClr val="1F2948"/>
                </a:solidFill>
              </a:defRPr>
            </a:pPr>
            <a:r>
              <a:rPr sz="1125" dirty="0" err="1">
                <a:solidFill>
                  <a:srgbClr val="1F2948"/>
                </a:solidFill>
              </a:rPr>
              <a:t>Statsmodels</a:t>
            </a:r>
            <a:endParaRPr sz="1125" dirty="0">
              <a:solidFill>
                <a:srgbClr val="1F2948"/>
              </a:solidFill>
            </a:endParaRPr>
          </a:p>
          <a:p>
            <a:pPr>
              <a:defRPr sz="1125">
                <a:solidFill>
                  <a:srgbClr val="1F2948"/>
                </a:solidFill>
              </a:defRPr>
            </a:pPr>
            <a:r>
              <a:rPr sz="1125" dirty="0">
                <a:solidFill>
                  <a:srgbClr val="1F2948"/>
                </a:solidFill>
              </a:rPr>
              <a:t>Scikit-learn metrics</a:t>
            </a:r>
          </a:p>
          <a:p>
            <a:pPr>
              <a:defRPr sz="1125">
                <a:solidFill>
                  <a:srgbClr val="1F2948"/>
                </a:solidFill>
              </a:defRPr>
            </a:pPr>
            <a:r>
              <a:rPr sz="1125" dirty="0">
                <a:solidFill>
                  <a:srgbClr val="1F2948"/>
                </a:solidFill>
              </a:rPr>
              <a:t>Naive · ARIMA · SARIMA</a:t>
            </a:r>
          </a:p>
        </p:txBody>
      </p:sp>
      <p:sp>
        <p:nvSpPr>
          <p:cNvPr id="124" name="Rectangle: Rounded Corners 123">
            <a:extLst>
              <a:ext uri="{FF2B5EF4-FFF2-40B4-BE49-F238E27FC236}">
                <a16:creationId xmlns:a16="http://schemas.microsoft.com/office/drawing/2014/main" id="{CA1AAE86-2077-4ADD-B275-88FB3EC1772C}"/>
              </a:ext>
            </a:extLst>
          </p:cNvPr>
          <p:cNvSpPr>
            <a:spLocks noGrp="1"/>
          </p:cNvSpPr>
          <p:nvPr/>
        </p:nvSpPr>
        <p:spPr>
          <a:xfrm>
            <a:off x="7858125" y="1905000"/>
            <a:ext cx="2762250" cy="1257300"/>
          </a:xfrm>
          <a:prstGeom prst="roundRect">
            <a:avLst>
              <a:gd name="adj" fmla="val 9091"/>
            </a:avLst>
          </a:prstGeom>
          <a:solidFill>
            <a:srgbClr val="FFFFFF"/>
          </a:solidFill>
          <a:ln w="9525">
            <a:solidFill>
              <a:srgbClr val="D7E1F0"/>
            </a:solidFill>
            <a:prstDash val="solid"/>
          </a:ln>
        </p:spPr>
      </p:sp>
      <p:sp>
        <p:nvSpPr>
          <p:cNvPr id="125" name="Rectangle 124">
            <a:extLst>
              <a:ext uri="{FF2B5EF4-FFF2-40B4-BE49-F238E27FC236}">
                <a16:creationId xmlns:a16="http://schemas.microsoft.com/office/drawing/2014/main" id="{7D3F17D1-D85B-4A6E-92FA-239C6EE0E620}"/>
              </a:ext>
            </a:extLst>
          </p:cNvPr>
          <p:cNvSpPr>
            <a:spLocks noGrp="1"/>
          </p:cNvSpPr>
          <p:nvPr/>
        </p:nvSpPr>
        <p:spPr>
          <a:xfrm>
            <a:off x="8048625" y="2085975"/>
            <a:ext cx="2381250" cy="266700"/>
          </a:xfrm>
          <a:prstGeom prst="rect">
            <a:avLst/>
          </a:prstGeom>
          <a:noFill/>
          <a:ln w="0">
            <a:noFill/>
          </a:ln>
        </p:spPr>
        <p:txBody>
          <a:bodyPr>
            <a:normAutofit fontScale="97696" lnSpcReduction="10000"/>
          </a:bodyPr>
          <a:lstStyle/>
          <a:p>
            <a:pPr>
              <a:defRPr sz="1275" b="1">
                <a:solidFill>
                  <a:srgbClr val="1C789A"/>
                </a:solidFill>
              </a:defRPr>
            </a:pPr>
            <a:r>
              <a:rPr sz="1275" b="1">
                <a:solidFill>
                  <a:srgbClr val="1C789A"/>
                </a:solidFill>
              </a:rPr>
              <a:t>Delivery</a:t>
            </a:r>
          </a:p>
        </p:txBody>
      </p:sp>
      <p:sp>
        <p:nvSpPr>
          <p:cNvPr id="126" name="Rectangle 125">
            <a:extLst>
              <a:ext uri="{FF2B5EF4-FFF2-40B4-BE49-F238E27FC236}">
                <a16:creationId xmlns:a16="http://schemas.microsoft.com/office/drawing/2014/main" id="{0C7F6F09-1BFC-4E32-B15C-90B3015EF970}"/>
              </a:ext>
            </a:extLst>
          </p:cNvPr>
          <p:cNvSpPr>
            <a:spLocks noGrp="1"/>
          </p:cNvSpPr>
          <p:nvPr/>
        </p:nvSpPr>
        <p:spPr>
          <a:xfrm>
            <a:off x="8048625" y="2419350"/>
            <a:ext cx="2381250" cy="590550"/>
          </a:xfrm>
          <a:prstGeom prst="rect">
            <a:avLst/>
          </a:prstGeom>
          <a:noFill/>
          <a:ln w="0">
            <a:noFill/>
          </a:ln>
        </p:spPr>
        <p:txBody>
          <a:bodyPr>
            <a:normAutofit fontScale="97037" lnSpcReduction="10000"/>
          </a:bodyPr>
          <a:lstStyle/>
          <a:p>
            <a:pPr>
              <a:defRPr sz="1125">
                <a:solidFill>
                  <a:srgbClr val="1F2948"/>
                </a:solidFill>
              </a:defRPr>
            </a:pPr>
            <a:r>
              <a:rPr sz="1125">
                <a:solidFill>
                  <a:srgbClr val="1F2948"/>
                </a:solidFill>
              </a:rPr>
              <a:t>Streamlit dashboard</a:t>
            </a:r>
          </a:p>
          <a:p>
            <a:pPr>
              <a:defRPr sz="1125">
                <a:solidFill>
                  <a:srgbClr val="1F2948"/>
                </a:solidFill>
              </a:defRPr>
            </a:pPr>
            <a:r>
              <a:rPr sz="1125">
                <a:solidFill>
                  <a:srgbClr val="1F2948"/>
                </a:solidFill>
              </a:rPr>
              <a:t>VS Code · Git</a:t>
            </a:r>
          </a:p>
          <a:p>
            <a:pPr>
              <a:defRPr sz="1125">
                <a:solidFill>
                  <a:srgbClr val="1F2948"/>
                </a:solidFill>
              </a:defRPr>
            </a:pPr>
            <a:r>
              <a:rPr sz="1125">
                <a:solidFill>
                  <a:srgbClr val="1F2948"/>
                </a:solidFill>
              </a:rPr>
              <a:t>Modern web browser</a:t>
            </a:r>
          </a:p>
        </p:txBody>
      </p:sp>
      <p:sp>
        <p:nvSpPr>
          <p:cNvPr id="127" name="Rectangle 126">
            <a:extLst>
              <a:ext uri="{FF2B5EF4-FFF2-40B4-BE49-F238E27FC236}">
                <a16:creationId xmlns:a16="http://schemas.microsoft.com/office/drawing/2014/main" id="{8A6C0E18-1DDE-48E7-8F16-15DFD76F9A52}"/>
              </a:ext>
            </a:extLst>
          </p:cNvPr>
          <p:cNvSpPr>
            <a:spLocks noGrp="1"/>
          </p:cNvSpPr>
          <p:nvPr/>
        </p:nvSpPr>
        <p:spPr>
          <a:xfrm>
            <a:off x="1571625" y="3476625"/>
            <a:ext cx="2667000" cy="266700"/>
          </a:xfrm>
          <a:prstGeom prst="rect">
            <a:avLst/>
          </a:prstGeom>
          <a:noFill/>
          <a:ln w="0">
            <a:noFill/>
          </a:ln>
        </p:spPr>
        <p:txBody>
          <a:bodyPr>
            <a:normAutofit fontScale="80702" lnSpcReduction="10000"/>
          </a:bodyPr>
          <a:lstStyle/>
          <a:p>
            <a:pPr>
              <a:defRPr sz="1425" b="1">
                <a:solidFill>
                  <a:srgbClr val="252F67"/>
                </a:solidFill>
              </a:defRPr>
            </a:pPr>
            <a:r>
              <a:rPr sz="1425" b="1">
                <a:solidFill>
                  <a:srgbClr val="252F67"/>
                </a:solidFill>
              </a:rPr>
              <a:t>10-Week Work Plan</a:t>
            </a:r>
          </a:p>
        </p:txBody>
      </p:sp>
      <p:sp>
        <p:nvSpPr>
          <p:cNvPr id="128" name="Rectangle: Rounded Corners 127">
            <a:extLst>
              <a:ext uri="{FF2B5EF4-FFF2-40B4-BE49-F238E27FC236}">
                <a16:creationId xmlns:a16="http://schemas.microsoft.com/office/drawing/2014/main" id="{4B420BF5-0BE3-425E-A54D-92AFD39D3A03}"/>
              </a:ext>
            </a:extLst>
          </p:cNvPr>
          <p:cNvSpPr>
            <a:spLocks noGrp="1"/>
          </p:cNvSpPr>
          <p:nvPr/>
        </p:nvSpPr>
        <p:spPr>
          <a:xfrm>
            <a:off x="1571625" y="3857625"/>
            <a:ext cx="819150" cy="1066800"/>
          </a:xfrm>
          <a:prstGeom prst="roundRect">
            <a:avLst>
              <a:gd name="adj" fmla="val 13953"/>
            </a:avLst>
          </a:prstGeom>
          <a:solidFill>
            <a:srgbClr val="FFFFFF"/>
          </a:solidFill>
          <a:ln w="9525">
            <a:solidFill>
              <a:srgbClr val="D7E1F0"/>
            </a:solidFill>
            <a:prstDash val="solid"/>
          </a:ln>
        </p:spPr>
      </p:sp>
      <p:sp>
        <p:nvSpPr>
          <p:cNvPr id="129" name="Rectangle 128">
            <a:extLst>
              <a:ext uri="{FF2B5EF4-FFF2-40B4-BE49-F238E27FC236}">
                <a16:creationId xmlns:a16="http://schemas.microsoft.com/office/drawing/2014/main" id="{9A24C4E8-70BA-4FC1-ACA8-E9CE63934A2A}"/>
              </a:ext>
            </a:extLst>
          </p:cNvPr>
          <p:cNvSpPr>
            <a:spLocks noGrp="1"/>
          </p:cNvSpPr>
          <p:nvPr/>
        </p:nvSpPr>
        <p:spPr>
          <a:xfrm>
            <a:off x="16478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W1</a:t>
            </a:r>
          </a:p>
        </p:txBody>
      </p:sp>
      <p:sp>
        <p:nvSpPr>
          <p:cNvPr id="130" name="Rectangle 129">
            <a:extLst>
              <a:ext uri="{FF2B5EF4-FFF2-40B4-BE49-F238E27FC236}">
                <a16:creationId xmlns:a16="http://schemas.microsoft.com/office/drawing/2014/main" id="{9B9AE581-A847-4A42-A68A-04D109E29B2E}"/>
              </a:ext>
            </a:extLst>
          </p:cNvPr>
          <p:cNvSpPr>
            <a:spLocks noGrp="1"/>
          </p:cNvSpPr>
          <p:nvPr/>
        </p:nvSpPr>
        <p:spPr>
          <a:xfrm>
            <a:off x="16383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Problem &amp;</a:t>
            </a:r>
          </a:p>
          <a:p>
            <a:pPr algn="ctr">
              <a:defRPr sz="750">
                <a:solidFill>
                  <a:srgbClr val="1F2948"/>
                </a:solidFill>
              </a:defRPr>
            </a:pPr>
            <a:r>
              <a:rPr sz="750">
                <a:solidFill>
                  <a:srgbClr val="1F2948"/>
                </a:solidFill>
              </a:rPr>
              <a:t>literature</a:t>
            </a:r>
          </a:p>
        </p:txBody>
      </p:sp>
      <p:sp>
        <p:nvSpPr>
          <p:cNvPr id="131" name="Rectangle: Rounded Corners 130">
            <a:extLst>
              <a:ext uri="{FF2B5EF4-FFF2-40B4-BE49-F238E27FC236}">
                <a16:creationId xmlns:a16="http://schemas.microsoft.com/office/drawing/2014/main" id="{3FA9CDE0-A981-4720-9542-55FC011993C5}"/>
              </a:ext>
            </a:extLst>
          </p:cNvPr>
          <p:cNvSpPr>
            <a:spLocks noGrp="1"/>
          </p:cNvSpPr>
          <p:nvPr/>
        </p:nvSpPr>
        <p:spPr>
          <a:xfrm>
            <a:off x="2486025" y="3857625"/>
            <a:ext cx="819150" cy="1066800"/>
          </a:xfrm>
          <a:prstGeom prst="roundRect">
            <a:avLst>
              <a:gd name="adj" fmla="val 13953"/>
            </a:avLst>
          </a:prstGeom>
          <a:solidFill>
            <a:srgbClr val="F6F9FC"/>
          </a:solidFill>
          <a:ln w="9525">
            <a:solidFill>
              <a:srgbClr val="D7E1F0"/>
            </a:solidFill>
            <a:prstDash val="solid"/>
          </a:ln>
        </p:spPr>
      </p:sp>
      <p:sp>
        <p:nvSpPr>
          <p:cNvPr id="132" name="Rectangle 131">
            <a:extLst>
              <a:ext uri="{FF2B5EF4-FFF2-40B4-BE49-F238E27FC236}">
                <a16:creationId xmlns:a16="http://schemas.microsoft.com/office/drawing/2014/main" id="{34EA6C7A-0F0F-491C-85A7-3B9058749110}"/>
              </a:ext>
            </a:extLst>
          </p:cNvPr>
          <p:cNvSpPr>
            <a:spLocks noGrp="1"/>
          </p:cNvSpPr>
          <p:nvPr/>
        </p:nvSpPr>
        <p:spPr>
          <a:xfrm>
            <a:off x="25622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W2</a:t>
            </a:r>
          </a:p>
        </p:txBody>
      </p:sp>
      <p:sp>
        <p:nvSpPr>
          <p:cNvPr id="133" name="Rectangle 132">
            <a:extLst>
              <a:ext uri="{FF2B5EF4-FFF2-40B4-BE49-F238E27FC236}">
                <a16:creationId xmlns:a16="http://schemas.microsoft.com/office/drawing/2014/main" id="{F22E6AD1-A529-48E0-AAD8-180FE1BB75C7}"/>
              </a:ext>
            </a:extLst>
          </p:cNvPr>
          <p:cNvSpPr>
            <a:spLocks noGrp="1"/>
          </p:cNvSpPr>
          <p:nvPr/>
        </p:nvSpPr>
        <p:spPr>
          <a:xfrm>
            <a:off x="25527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Dataset</a:t>
            </a:r>
          </a:p>
          <a:p>
            <a:pPr algn="ctr">
              <a:defRPr sz="750">
                <a:solidFill>
                  <a:srgbClr val="1F2948"/>
                </a:solidFill>
              </a:defRPr>
            </a:pPr>
            <a:r>
              <a:rPr sz="750">
                <a:solidFill>
                  <a:srgbClr val="1F2948"/>
                </a:solidFill>
              </a:rPr>
              <a:t>study</a:t>
            </a:r>
          </a:p>
        </p:txBody>
      </p:sp>
      <p:sp>
        <p:nvSpPr>
          <p:cNvPr id="134" name="Rectangle: Rounded Corners 133">
            <a:extLst>
              <a:ext uri="{FF2B5EF4-FFF2-40B4-BE49-F238E27FC236}">
                <a16:creationId xmlns:a16="http://schemas.microsoft.com/office/drawing/2014/main" id="{BE2CC40D-0939-49A0-A439-2F598B564D4A}"/>
              </a:ext>
            </a:extLst>
          </p:cNvPr>
          <p:cNvSpPr>
            <a:spLocks noGrp="1"/>
          </p:cNvSpPr>
          <p:nvPr/>
        </p:nvSpPr>
        <p:spPr>
          <a:xfrm>
            <a:off x="3400425" y="3857625"/>
            <a:ext cx="819150" cy="1066800"/>
          </a:xfrm>
          <a:prstGeom prst="roundRect">
            <a:avLst>
              <a:gd name="adj" fmla="val 13953"/>
            </a:avLst>
          </a:prstGeom>
          <a:solidFill>
            <a:srgbClr val="FFFFFF"/>
          </a:solidFill>
          <a:ln w="9525">
            <a:solidFill>
              <a:srgbClr val="D7E1F0"/>
            </a:solidFill>
            <a:prstDash val="solid"/>
          </a:ln>
        </p:spPr>
      </p:sp>
      <p:sp>
        <p:nvSpPr>
          <p:cNvPr id="135" name="Rectangle 134">
            <a:extLst>
              <a:ext uri="{FF2B5EF4-FFF2-40B4-BE49-F238E27FC236}">
                <a16:creationId xmlns:a16="http://schemas.microsoft.com/office/drawing/2014/main" id="{D07CD4D9-D80C-435E-BDE1-487D8E741BA2}"/>
              </a:ext>
            </a:extLst>
          </p:cNvPr>
          <p:cNvSpPr>
            <a:spLocks noGrp="1"/>
          </p:cNvSpPr>
          <p:nvPr/>
        </p:nvSpPr>
        <p:spPr>
          <a:xfrm>
            <a:off x="34766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W3</a:t>
            </a:r>
          </a:p>
        </p:txBody>
      </p:sp>
      <p:sp>
        <p:nvSpPr>
          <p:cNvPr id="136" name="Rectangle 135">
            <a:extLst>
              <a:ext uri="{FF2B5EF4-FFF2-40B4-BE49-F238E27FC236}">
                <a16:creationId xmlns:a16="http://schemas.microsoft.com/office/drawing/2014/main" id="{24DA2F08-E828-42C8-BF4E-450D3D664ED5}"/>
              </a:ext>
            </a:extLst>
          </p:cNvPr>
          <p:cNvSpPr>
            <a:spLocks noGrp="1"/>
          </p:cNvSpPr>
          <p:nvPr/>
        </p:nvSpPr>
        <p:spPr>
          <a:xfrm>
            <a:off x="34671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Cleaning</a:t>
            </a:r>
          </a:p>
        </p:txBody>
      </p:sp>
      <p:sp>
        <p:nvSpPr>
          <p:cNvPr id="137" name="Rectangle: Rounded Corners 136">
            <a:extLst>
              <a:ext uri="{FF2B5EF4-FFF2-40B4-BE49-F238E27FC236}">
                <a16:creationId xmlns:a16="http://schemas.microsoft.com/office/drawing/2014/main" id="{912B77AC-3D58-4B11-815B-15B6F9EF7E12}"/>
              </a:ext>
            </a:extLst>
          </p:cNvPr>
          <p:cNvSpPr>
            <a:spLocks noGrp="1"/>
          </p:cNvSpPr>
          <p:nvPr/>
        </p:nvSpPr>
        <p:spPr>
          <a:xfrm>
            <a:off x="4314825" y="3857625"/>
            <a:ext cx="819150" cy="1066800"/>
          </a:xfrm>
          <a:prstGeom prst="roundRect">
            <a:avLst>
              <a:gd name="adj" fmla="val 13953"/>
            </a:avLst>
          </a:prstGeom>
          <a:solidFill>
            <a:srgbClr val="F6F9FC"/>
          </a:solidFill>
          <a:ln w="9525">
            <a:solidFill>
              <a:srgbClr val="D7E1F0"/>
            </a:solidFill>
            <a:prstDash val="solid"/>
          </a:ln>
        </p:spPr>
      </p:sp>
      <p:sp>
        <p:nvSpPr>
          <p:cNvPr id="138" name="Rectangle 137">
            <a:extLst>
              <a:ext uri="{FF2B5EF4-FFF2-40B4-BE49-F238E27FC236}">
                <a16:creationId xmlns:a16="http://schemas.microsoft.com/office/drawing/2014/main" id="{ACF22085-A5FC-4CBC-9D5D-C128F2F47365}"/>
              </a:ext>
            </a:extLst>
          </p:cNvPr>
          <p:cNvSpPr>
            <a:spLocks noGrp="1"/>
          </p:cNvSpPr>
          <p:nvPr/>
        </p:nvSpPr>
        <p:spPr>
          <a:xfrm>
            <a:off x="43910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W4</a:t>
            </a:r>
          </a:p>
        </p:txBody>
      </p:sp>
      <p:sp>
        <p:nvSpPr>
          <p:cNvPr id="139" name="Rectangle 138">
            <a:extLst>
              <a:ext uri="{FF2B5EF4-FFF2-40B4-BE49-F238E27FC236}">
                <a16:creationId xmlns:a16="http://schemas.microsoft.com/office/drawing/2014/main" id="{5C45F714-A290-48D1-815F-FD2D02EBE769}"/>
              </a:ext>
            </a:extLst>
          </p:cNvPr>
          <p:cNvSpPr>
            <a:spLocks noGrp="1"/>
          </p:cNvSpPr>
          <p:nvPr/>
        </p:nvSpPr>
        <p:spPr>
          <a:xfrm>
            <a:off x="43815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EDA</a:t>
            </a:r>
          </a:p>
        </p:txBody>
      </p:sp>
      <p:sp>
        <p:nvSpPr>
          <p:cNvPr id="140" name="Rectangle: Rounded Corners 139">
            <a:extLst>
              <a:ext uri="{FF2B5EF4-FFF2-40B4-BE49-F238E27FC236}">
                <a16:creationId xmlns:a16="http://schemas.microsoft.com/office/drawing/2014/main" id="{50102912-0157-4BA6-8446-F712C17F5602}"/>
              </a:ext>
            </a:extLst>
          </p:cNvPr>
          <p:cNvSpPr>
            <a:spLocks noGrp="1"/>
          </p:cNvSpPr>
          <p:nvPr/>
        </p:nvSpPr>
        <p:spPr>
          <a:xfrm>
            <a:off x="5229225" y="3857625"/>
            <a:ext cx="819150" cy="1066800"/>
          </a:xfrm>
          <a:prstGeom prst="roundRect">
            <a:avLst>
              <a:gd name="adj" fmla="val 13953"/>
            </a:avLst>
          </a:prstGeom>
          <a:solidFill>
            <a:srgbClr val="FFFFFF"/>
          </a:solidFill>
          <a:ln w="9525">
            <a:solidFill>
              <a:srgbClr val="D7E1F0"/>
            </a:solidFill>
            <a:prstDash val="solid"/>
          </a:ln>
        </p:spPr>
      </p:sp>
      <p:sp>
        <p:nvSpPr>
          <p:cNvPr id="141" name="Rectangle 140">
            <a:extLst>
              <a:ext uri="{FF2B5EF4-FFF2-40B4-BE49-F238E27FC236}">
                <a16:creationId xmlns:a16="http://schemas.microsoft.com/office/drawing/2014/main" id="{4CF77904-4343-4BCC-81C4-2816CD50F7A4}"/>
              </a:ext>
            </a:extLst>
          </p:cNvPr>
          <p:cNvSpPr>
            <a:spLocks noGrp="1"/>
          </p:cNvSpPr>
          <p:nvPr/>
        </p:nvSpPr>
        <p:spPr>
          <a:xfrm>
            <a:off x="53054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W5</a:t>
            </a:r>
          </a:p>
        </p:txBody>
      </p:sp>
      <p:sp>
        <p:nvSpPr>
          <p:cNvPr id="142" name="Rectangle 141">
            <a:extLst>
              <a:ext uri="{FF2B5EF4-FFF2-40B4-BE49-F238E27FC236}">
                <a16:creationId xmlns:a16="http://schemas.microsoft.com/office/drawing/2014/main" id="{6A476D28-F5E7-4B21-912C-0B579DE3A8B3}"/>
              </a:ext>
            </a:extLst>
          </p:cNvPr>
          <p:cNvSpPr>
            <a:spLocks noGrp="1"/>
          </p:cNvSpPr>
          <p:nvPr/>
        </p:nvSpPr>
        <p:spPr>
          <a:xfrm>
            <a:off x="52959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Time</a:t>
            </a:r>
          </a:p>
          <a:p>
            <a:pPr algn="ctr">
              <a:defRPr sz="750">
                <a:solidFill>
                  <a:srgbClr val="1F2948"/>
                </a:solidFill>
              </a:defRPr>
            </a:pPr>
            <a:r>
              <a:rPr sz="750">
                <a:solidFill>
                  <a:srgbClr val="1F2948"/>
                </a:solidFill>
              </a:rPr>
              <a:t>series</a:t>
            </a:r>
          </a:p>
        </p:txBody>
      </p:sp>
      <p:sp>
        <p:nvSpPr>
          <p:cNvPr id="143" name="Rectangle: Rounded Corners 142">
            <a:extLst>
              <a:ext uri="{FF2B5EF4-FFF2-40B4-BE49-F238E27FC236}">
                <a16:creationId xmlns:a16="http://schemas.microsoft.com/office/drawing/2014/main" id="{35539234-6CCB-48EC-B270-B81407598478}"/>
              </a:ext>
            </a:extLst>
          </p:cNvPr>
          <p:cNvSpPr>
            <a:spLocks noGrp="1"/>
          </p:cNvSpPr>
          <p:nvPr/>
        </p:nvSpPr>
        <p:spPr>
          <a:xfrm>
            <a:off x="6143625" y="3857625"/>
            <a:ext cx="819150" cy="1066800"/>
          </a:xfrm>
          <a:prstGeom prst="roundRect">
            <a:avLst>
              <a:gd name="adj" fmla="val 13953"/>
            </a:avLst>
          </a:prstGeom>
          <a:solidFill>
            <a:srgbClr val="F6F9FC"/>
          </a:solidFill>
          <a:ln w="9525">
            <a:solidFill>
              <a:srgbClr val="D7E1F0"/>
            </a:solidFill>
            <a:prstDash val="solid"/>
          </a:ln>
        </p:spPr>
      </p:sp>
      <p:sp>
        <p:nvSpPr>
          <p:cNvPr id="144" name="Rectangle 143">
            <a:extLst>
              <a:ext uri="{FF2B5EF4-FFF2-40B4-BE49-F238E27FC236}">
                <a16:creationId xmlns:a16="http://schemas.microsoft.com/office/drawing/2014/main" id="{CBE73552-D0A6-4C55-B3C9-3F57B9562E00}"/>
              </a:ext>
            </a:extLst>
          </p:cNvPr>
          <p:cNvSpPr>
            <a:spLocks noGrp="1"/>
          </p:cNvSpPr>
          <p:nvPr/>
        </p:nvSpPr>
        <p:spPr>
          <a:xfrm>
            <a:off x="62198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W6</a:t>
            </a:r>
          </a:p>
        </p:txBody>
      </p:sp>
      <p:sp>
        <p:nvSpPr>
          <p:cNvPr id="145" name="Rectangle 144">
            <a:extLst>
              <a:ext uri="{FF2B5EF4-FFF2-40B4-BE49-F238E27FC236}">
                <a16:creationId xmlns:a16="http://schemas.microsoft.com/office/drawing/2014/main" id="{17F5DCB4-0514-4D86-8C09-4684E84C3E47}"/>
              </a:ext>
            </a:extLst>
          </p:cNvPr>
          <p:cNvSpPr>
            <a:spLocks noGrp="1"/>
          </p:cNvSpPr>
          <p:nvPr/>
        </p:nvSpPr>
        <p:spPr>
          <a:xfrm>
            <a:off x="62103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Baseline &amp;</a:t>
            </a:r>
          </a:p>
          <a:p>
            <a:pPr algn="ctr">
              <a:defRPr sz="750">
                <a:solidFill>
                  <a:srgbClr val="1F2948"/>
                </a:solidFill>
              </a:defRPr>
            </a:pPr>
            <a:r>
              <a:rPr sz="750">
                <a:solidFill>
                  <a:srgbClr val="1F2948"/>
                </a:solidFill>
              </a:rPr>
              <a:t>ARIMA</a:t>
            </a:r>
          </a:p>
        </p:txBody>
      </p:sp>
      <p:sp>
        <p:nvSpPr>
          <p:cNvPr id="146" name="Rectangle: Rounded Corners 145">
            <a:extLst>
              <a:ext uri="{FF2B5EF4-FFF2-40B4-BE49-F238E27FC236}">
                <a16:creationId xmlns:a16="http://schemas.microsoft.com/office/drawing/2014/main" id="{9D5510E0-1BB5-4290-89EE-5B4883150895}"/>
              </a:ext>
            </a:extLst>
          </p:cNvPr>
          <p:cNvSpPr>
            <a:spLocks noGrp="1"/>
          </p:cNvSpPr>
          <p:nvPr/>
        </p:nvSpPr>
        <p:spPr>
          <a:xfrm>
            <a:off x="7058025" y="3857625"/>
            <a:ext cx="819150" cy="1066800"/>
          </a:xfrm>
          <a:prstGeom prst="roundRect">
            <a:avLst>
              <a:gd name="adj" fmla="val 13953"/>
            </a:avLst>
          </a:prstGeom>
          <a:solidFill>
            <a:srgbClr val="FFFFFF"/>
          </a:solidFill>
          <a:ln w="9525">
            <a:solidFill>
              <a:srgbClr val="D7E1F0"/>
            </a:solidFill>
            <a:prstDash val="solid"/>
          </a:ln>
        </p:spPr>
      </p:sp>
      <p:sp>
        <p:nvSpPr>
          <p:cNvPr id="147" name="Rectangle 146">
            <a:extLst>
              <a:ext uri="{FF2B5EF4-FFF2-40B4-BE49-F238E27FC236}">
                <a16:creationId xmlns:a16="http://schemas.microsoft.com/office/drawing/2014/main" id="{9ACB89B4-C319-46C0-97C2-5965BA3A1ADB}"/>
              </a:ext>
            </a:extLst>
          </p:cNvPr>
          <p:cNvSpPr>
            <a:spLocks noGrp="1"/>
          </p:cNvSpPr>
          <p:nvPr/>
        </p:nvSpPr>
        <p:spPr>
          <a:xfrm>
            <a:off x="71342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W7</a:t>
            </a:r>
          </a:p>
        </p:txBody>
      </p:sp>
      <p:sp>
        <p:nvSpPr>
          <p:cNvPr id="148" name="Rectangle 147">
            <a:extLst>
              <a:ext uri="{FF2B5EF4-FFF2-40B4-BE49-F238E27FC236}">
                <a16:creationId xmlns:a16="http://schemas.microsoft.com/office/drawing/2014/main" id="{A612B4A9-74F0-47EF-9087-C381CC14CB34}"/>
              </a:ext>
            </a:extLst>
          </p:cNvPr>
          <p:cNvSpPr>
            <a:spLocks noGrp="1"/>
          </p:cNvSpPr>
          <p:nvPr/>
        </p:nvSpPr>
        <p:spPr>
          <a:xfrm>
            <a:off x="71247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SARIMA</a:t>
            </a:r>
          </a:p>
        </p:txBody>
      </p:sp>
      <p:sp>
        <p:nvSpPr>
          <p:cNvPr id="149" name="Rectangle: Rounded Corners 148">
            <a:extLst>
              <a:ext uri="{FF2B5EF4-FFF2-40B4-BE49-F238E27FC236}">
                <a16:creationId xmlns:a16="http://schemas.microsoft.com/office/drawing/2014/main" id="{DD1E4B75-D10F-4BFC-A545-3E6C56B2BB6E}"/>
              </a:ext>
            </a:extLst>
          </p:cNvPr>
          <p:cNvSpPr>
            <a:spLocks noGrp="1"/>
          </p:cNvSpPr>
          <p:nvPr/>
        </p:nvSpPr>
        <p:spPr>
          <a:xfrm>
            <a:off x="7972425" y="3857625"/>
            <a:ext cx="819150" cy="1066800"/>
          </a:xfrm>
          <a:prstGeom prst="roundRect">
            <a:avLst>
              <a:gd name="adj" fmla="val 13953"/>
            </a:avLst>
          </a:prstGeom>
          <a:solidFill>
            <a:srgbClr val="F6F9FC"/>
          </a:solidFill>
          <a:ln w="9525">
            <a:solidFill>
              <a:srgbClr val="D7E1F0"/>
            </a:solidFill>
            <a:prstDash val="solid"/>
          </a:ln>
        </p:spPr>
      </p:sp>
      <p:sp>
        <p:nvSpPr>
          <p:cNvPr id="150" name="Rectangle 149">
            <a:extLst>
              <a:ext uri="{FF2B5EF4-FFF2-40B4-BE49-F238E27FC236}">
                <a16:creationId xmlns:a16="http://schemas.microsoft.com/office/drawing/2014/main" id="{F58362FC-7A76-448E-A0C6-3525AC83A5B0}"/>
              </a:ext>
            </a:extLst>
          </p:cNvPr>
          <p:cNvSpPr>
            <a:spLocks noGrp="1"/>
          </p:cNvSpPr>
          <p:nvPr/>
        </p:nvSpPr>
        <p:spPr>
          <a:xfrm>
            <a:off x="80486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W8</a:t>
            </a:r>
          </a:p>
        </p:txBody>
      </p:sp>
      <p:sp>
        <p:nvSpPr>
          <p:cNvPr id="151" name="Rectangle 150">
            <a:extLst>
              <a:ext uri="{FF2B5EF4-FFF2-40B4-BE49-F238E27FC236}">
                <a16:creationId xmlns:a16="http://schemas.microsoft.com/office/drawing/2014/main" id="{76EBEC01-102A-4F98-9FAF-2C9B6AE0F18F}"/>
              </a:ext>
            </a:extLst>
          </p:cNvPr>
          <p:cNvSpPr>
            <a:spLocks noGrp="1"/>
          </p:cNvSpPr>
          <p:nvPr/>
        </p:nvSpPr>
        <p:spPr>
          <a:xfrm>
            <a:off x="80391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Compare &amp;</a:t>
            </a:r>
          </a:p>
          <a:p>
            <a:pPr algn="ctr">
              <a:defRPr sz="750">
                <a:solidFill>
                  <a:srgbClr val="1F2948"/>
                </a:solidFill>
              </a:defRPr>
            </a:pPr>
            <a:r>
              <a:rPr sz="750">
                <a:solidFill>
                  <a:srgbClr val="1F2948"/>
                </a:solidFill>
              </a:rPr>
              <a:t>forecast</a:t>
            </a:r>
          </a:p>
        </p:txBody>
      </p:sp>
      <p:sp>
        <p:nvSpPr>
          <p:cNvPr id="152" name="Rectangle: Rounded Corners 151">
            <a:extLst>
              <a:ext uri="{FF2B5EF4-FFF2-40B4-BE49-F238E27FC236}">
                <a16:creationId xmlns:a16="http://schemas.microsoft.com/office/drawing/2014/main" id="{ACC92FFA-EC99-4D5C-9BF3-6EF70F3002E0}"/>
              </a:ext>
            </a:extLst>
          </p:cNvPr>
          <p:cNvSpPr>
            <a:spLocks noGrp="1"/>
          </p:cNvSpPr>
          <p:nvPr/>
        </p:nvSpPr>
        <p:spPr>
          <a:xfrm>
            <a:off x="8886825" y="3857625"/>
            <a:ext cx="819150" cy="1066800"/>
          </a:xfrm>
          <a:prstGeom prst="roundRect">
            <a:avLst>
              <a:gd name="adj" fmla="val 13953"/>
            </a:avLst>
          </a:prstGeom>
          <a:solidFill>
            <a:srgbClr val="FFFFFF"/>
          </a:solidFill>
          <a:ln w="9525">
            <a:solidFill>
              <a:srgbClr val="D7E1F0"/>
            </a:solidFill>
            <a:prstDash val="solid"/>
          </a:ln>
        </p:spPr>
      </p:sp>
      <p:sp>
        <p:nvSpPr>
          <p:cNvPr id="153" name="Rectangle 152">
            <a:extLst>
              <a:ext uri="{FF2B5EF4-FFF2-40B4-BE49-F238E27FC236}">
                <a16:creationId xmlns:a16="http://schemas.microsoft.com/office/drawing/2014/main" id="{EE9F3342-9ECA-4ACC-AA74-67E18167F8E2}"/>
              </a:ext>
            </a:extLst>
          </p:cNvPr>
          <p:cNvSpPr>
            <a:spLocks noGrp="1"/>
          </p:cNvSpPr>
          <p:nvPr/>
        </p:nvSpPr>
        <p:spPr>
          <a:xfrm>
            <a:off x="89630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W9</a:t>
            </a:r>
          </a:p>
        </p:txBody>
      </p:sp>
      <p:sp>
        <p:nvSpPr>
          <p:cNvPr id="154" name="Rectangle 153">
            <a:extLst>
              <a:ext uri="{FF2B5EF4-FFF2-40B4-BE49-F238E27FC236}">
                <a16:creationId xmlns:a16="http://schemas.microsoft.com/office/drawing/2014/main" id="{A4E72CAE-2E41-400D-AB29-F70D2E5FE35C}"/>
              </a:ext>
            </a:extLst>
          </p:cNvPr>
          <p:cNvSpPr>
            <a:spLocks noGrp="1"/>
          </p:cNvSpPr>
          <p:nvPr/>
        </p:nvSpPr>
        <p:spPr>
          <a:xfrm>
            <a:off x="89535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Dashboard</a:t>
            </a:r>
          </a:p>
          <a:p>
            <a:pPr algn="ctr">
              <a:defRPr sz="750">
                <a:solidFill>
                  <a:srgbClr val="1F2948"/>
                </a:solidFill>
              </a:defRPr>
            </a:pPr>
            <a:r>
              <a:rPr sz="750">
                <a:solidFill>
                  <a:srgbClr val="1F2948"/>
                </a:solidFill>
              </a:rPr>
              <a:t>&amp; testing</a:t>
            </a:r>
          </a:p>
        </p:txBody>
      </p:sp>
      <p:sp>
        <p:nvSpPr>
          <p:cNvPr id="155" name="Rectangle: Rounded Corners 154">
            <a:extLst>
              <a:ext uri="{FF2B5EF4-FFF2-40B4-BE49-F238E27FC236}">
                <a16:creationId xmlns:a16="http://schemas.microsoft.com/office/drawing/2014/main" id="{5AC0CCFA-E11C-45F7-BBA0-7E34E3EE980C}"/>
              </a:ext>
            </a:extLst>
          </p:cNvPr>
          <p:cNvSpPr>
            <a:spLocks noGrp="1"/>
          </p:cNvSpPr>
          <p:nvPr/>
        </p:nvSpPr>
        <p:spPr>
          <a:xfrm>
            <a:off x="9801225" y="3857625"/>
            <a:ext cx="819150" cy="1066800"/>
          </a:xfrm>
          <a:prstGeom prst="roundRect">
            <a:avLst>
              <a:gd name="adj" fmla="val 13953"/>
            </a:avLst>
          </a:prstGeom>
          <a:solidFill>
            <a:srgbClr val="F6F9FC"/>
          </a:solidFill>
          <a:ln w="9525">
            <a:solidFill>
              <a:srgbClr val="D7E1F0"/>
            </a:solidFill>
            <a:prstDash val="solid"/>
          </a:ln>
        </p:spPr>
      </p:sp>
      <p:sp>
        <p:nvSpPr>
          <p:cNvPr id="156" name="Rectangle 155">
            <a:extLst>
              <a:ext uri="{FF2B5EF4-FFF2-40B4-BE49-F238E27FC236}">
                <a16:creationId xmlns:a16="http://schemas.microsoft.com/office/drawing/2014/main" id="{33DB1520-03AA-460E-A028-669235E34EE2}"/>
              </a:ext>
            </a:extLst>
          </p:cNvPr>
          <p:cNvSpPr>
            <a:spLocks noGrp="1"/>
          </p:cNvSpPr>
          <p:nvPr/>
        </p:nvSpPr>
        <p:spPr>
          <a:xfrm>
            <a:off x="9877425" y="3981450"/>
            <a:ext cx="666750" cy="180975"/>
          </a:xfrm>
          <a:prstGeom prst="rect">
            <a:avLst/>
          </a:prstGeom>
          <a:noFill/>
          <a:ln w="0">
            <a:noFill/>
          </a:ln>
        </p:spPr>
        <p:txBody>
          <a:bodyPr>
            <a:normAutofit fontScale="60256" lnSpcReduction="10000"/>
          </a:bodyPr>
          <a:lstStyle/>
          <a:p>
            <a:pPr algn="ctr">
              <a:defRPr sz="975" b="1">
                <a:solidFill>
                  <a:srgbClr val="1C789A"/>
                </a:solidFill>
              </a:defRPr>
            </a:pPr>
            <a:r>
              <a:rPr sz="975" b="1">
                <a:solidFill>
                  <a:srgbClr val="1C789A"/>
                </a:solidFill>
              </a:rPr>
              <a:t>W10</a:t>
            </a:r>
          </a:p>
        </p:txBody>
      </p:sp>
      <p:sp>
        <p:nvSpPr>
          <p:cNvPr id="157" name="Rectangle 156">
            <a:extLst>
              <a:ext uri="{FF2B5EF4-FFF2-40B4-BE49-F238E27FC236}">
                <a16:creationId xmlns:a16="http://schemas.microsoft.com/office/drawing/2014/main" id="{3D9F4C02-790A-4366-91E6-2BB4BEDC2063}"/>
              </a:ext>
            </a:extLst>
          </p:cNvPr>
          <p:cNvSpPr>
            <a:spLocks noGrp="1"/>
          </p:cNvSpPr>
          <p:nvPr/>
        </p:nvSpPr>
        <p:spPr>
          <a:xfrm>
            <a:off x="9867900" y="4238625"/>
            <a:ext cx="685800" cy="533400"/>
          </a:xfrm>
          <a:prstGeom prst="rect">
            <a:avLst/>
          </a:prstGeom>
          <a:noFill/>
          <a:ln w="0">
            <a:noFill/>
          </a:ln>
        </p:spPr>
        <p:txBody>
          <a:bodyPr>
            <a:normAutofit/>
          </a:bodyPr>
          <a:lstStyle/>
          <a:p>
            <a:pPr algn="ctr">
              <a:defRPr sz="750">
                <a:solidFill>
                  <a:srgbClr val="1F2948"/>
                </a:solidFill>
              </a:defRPr>
            </a:pPr>
            <a:r>
              <a:rPr sz="750">
                <a:solidFill>
                  <a:srgbClr val="1F2948"/>
                </a:solidFill>
              </a:rPr>
              <a:t>Docs &amp;</a:t>
            </a:r>
          </a:p>
          <a:p>
            <a:pPr algn="ctr">
              <a:defRPr sz="750">
                <a:solidFill>
                  <a:srgbClr val="1F2948"/>
                </a:solidFill>
              </a:defRPr>
            </a:pPr>
            <a:r>
              <a:rPr sz="750">
                <a:solidFill>
                  <a:srgbClr val="1F2948"/>
                </a:solidFill>
              </a:rPr>
              <a:t>viva</a:t>
            </a:r>
          </a:p>
        </p:txBody>
      </p:sp>
    </p:spTree>
    <p:extLst>
      <p:ext uri="{BB962C8B-B14F-4D97-AF65-F5344CB8AC3E}">
        <p14:creationId xmlns:p14="http://schemas.microsoft.com/office/powerpoint/2010/main" val="2084523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123" name="Google Shape;123;p8">
            <a:extLst>
              <a:ext uri="{FF2B5EF4-FFF2-40B4-BE49-F238E27FC236}">
                <a16:creationId xmlns:a16="http://schemas.microsoft.com/office/drawing/2014/main" id="{08442CAF-33F3-495A-BB0A-8F7894DC9429}"/>
              </a:ext>
            </a:extLst>
          </p:cNvPr>
          <p:cNvSpPr>
            <a:spLocks noGrp="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24" name="Google Shape;124;p8">
            <a:extLst>
              <a:ext uri="{FF2B5EF4-FFF2-40B4-BE49-F238E27FC236}">
                <a16:creationId xmlns:a16="http://schemas.microsoft.com/office/drawing/2014/main" id="{1BBE2EEE-9B7A-4C06-BB92-A0C2AC18E523}"/>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25" name="Google Shape;125;p8">
            <a:extLst>
              <a:ext uri="{FF2B5EF4-FFF2-40B4-BE49-F238E27FC236}">
                <a16:creationId xmlns:a16="http://schemas.microsoft.com/office/drawing/2014/main" id="{E7C4284D-D1C8-44DD-AE0D-B35719F7F075}"/>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26" name="Google Shape;126;p8">
            <a:extLst>
              <a:ext uri="{FF2B5EF4-FFF2-40B4-BE49-F238E27FC236}">
                <a16:creationId xmlns:a16="http://schemas.microsoft.com/office/drawing/2014/main" id="{2FA9BC87-8F96-4C0F-B1FB-C4E96C2D70E8}"/>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05</a:t>
            </a:r>
            <a:endParaRPr sz="1600" b="0" i="0" u="none" cap="none">
              <a:solidFill>
                <a:schemeClr val="dk1"/>
              </a:solidFill>
              <a:latin typeface="Calibri"/>
              <a:ea typeface="Calibri"/>
              <a:cs typeface="Calibri"/>
            </a:endParaRPr>
          </a:p>
        </p:txBody>
      </p:sp>
      <p:sp>
        <p:nvSpPr>
          <p:cNvPr id="127" name="Google Shape;127;p8">
            <a:extLst>
              <a:ext uri="{FF2B5EF4-FFF2-40B4-BE49-F238E27FC236}">
                <a16:creationId xmlns:a16="http://schemas.microsoft.com/office/drawing/2014/main" id="{4B871A52-84D4-4EAE-9FAB-8C72A9D2523C}"/>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05</a:t>
            </a:r>
            <a:endParaRPr sz="1100" b="0" i="0" u="none" cap="none">
              <a:solidFill>
                <a:schemeClr val="dk1"/>
              </a:solidFill>
              <a:latin typeface="Calibri"/>
              <a:ea typeface="Calibri"/>
              <a:cs typeface="Calibri"/>
            </a:endParaRPr>
          </a:p>
        </p:txBody>
      </p:sp>
      <p:sp>
        <p:nvSpPr>
          <p:cNvPr id="128" name="Google Shape;128;p8">
            <a:extLst>
              <a:ext uri="{FF2B5EF4-FFF2-40B4-BE49-F238E27FC236}">
                <a16:creationId xmlns:a16="http://schemas.microsoft.com/office/drawing/2014/main" id="{3C56961A-38DC-4834-9807-C9DC6014887F}"/>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Literature Survey</a:t>
            </a:r>
            <a:endParaRPr sz="3000" b="0" i="0" u="none" cap="none">
              <a:solidFill>
                <a:schemeClr val="dk1"/>
              </a:solidFill>
              <a:latin typeface="Calibri"/>
              <a:ea typeface="Calibri"/>
              <a:cs typeface="Calibri"/>
            </a:endParaRPr>
          </a:p>
        </p:txBody>
      </p:sp>
      <p:graphicFrame>
        <p:nvGraphicFramePr>
          <p:cNvPr id="139" name="Google Shape;129;p8"/>
          <p:cNvGraphicFramePr/>
          <p:nvPr/>
        </p:nvGraphicFramePr>
        <p:xfrm>
          <a:off x="1234440" y="1600210"/>
          <a:ext cx="9692625" cy="4023375"/>
        </p:xfrm>
        <a:graphic>
          <a:graphicData uri="http://schemas.openxmlformats.org/drawingml/2006/table">
            <a:tbl>
              <a:tblPr>
                <a:tableStyleId>{DACFCA41-7221-4674-B144-DCA2F1B7582E}</a:tableStyleId>
              </a:tblPr>
              <a:tblGrid>
                <a:gridCol w="73152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011675">
                  <a:extLst>
                    <a:ext uri="{9D8B030D-6E8A-4147-A177-3AD203B41FA5}">
                      <a16:colId xmlns:a16="http://schemas.microsoft.com/office/drawing/2014/main" val="20002"/>
                    </a:ext>
                  </a:extLst>
                </a:gridCol>
                <a:gridCol w="1737350">
                  <a:extLst>
                    <a:ext uri="{9D8B030D-6E8A-4147-A177-3AD203B41FA5}">
                      <a16:colId xmlns:a16="http://schemas.microsoft.com/office/drawing/2014/main" val="20003"/>
                    </a:ext>
                  </a:extLst>
                </a:gridCol>
                <a:gridCol w="2468875">
                  <a:extLst>
                    <a:ext uri="{9D8B030D-6E8A-4147-A177-3AD203B41FA5}">
                      <a16:colId xmlns:a16="http://schemas.microsoft.com/office/drawing/2014/main" val="20004"/>
                    </a:ext>
                  </a:extLst>
                </a:gridCol>
              </a:tblGrid>
              <a:tr h="804675">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S.No</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Paper Title</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Author(s)</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Journal / Year</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Key Findings</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extLst>
                  <a:ext uri="{0D108BD9-81ED-4DB2-BD59-A6C34878D82A}">
                    <a16:rowId xmlns:a16="http://schemas.microsoft.com/office/drawing/2014/main" val="10000"/>
                  </a:ext>
                </a:extLst>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[1]</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Online Retail Dataset</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D. Chen</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UCI ML Repository, 2015</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Retail transactions for forecasting study</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extLst>
                  <a:ext uri="{0D108BD9-81ED-4DB2-BD59-A6C34878D82A}">
                    <a16:rowId xmlns:a16="http://schemas.microsoft.com/office/drawing/2014/main" val="10001"/>
                  </a:ext>
                </a:extLst>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[2]</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Forecasting: Principles and Practice</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R. J. Hyndman &amp; G. Athanasopoulos</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OTexts</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Time-series forecasting concepts</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extLst>
                  <a:ext uri="{0D108BD9-81ED-4DB2-BD59-A6C34878D82A}">
                    <a16:rowId xmlns:a16="http://schemas.microsoft.com/office/drawing/2014/main" val="10002"/>
                  </a:ext>
                </a:extLst>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[3]</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ARIMA and SARIMAX Documentation</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Statsmodels Developers</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Statsmodels</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Model implementation guidance</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extLst>
                  <a:ext uri="{0D108BD9-81ED-4DB2-BD59-A6C34878D82A}">
                    <a16:rowId xmlns:a16="http://schemas.microsoft.com/office/drawing/2014/main" val="10003"/>
                  </a:ext>
                </a:extLst>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[4]</a:t>
                      </a:r>
                      <a:endParaRPr sz="1100" u="none" cap="none">
                        <a:latin typeface="Calibri"/>
                        <a:ea typeface="Calibri"/>
                        <a:cs typeface="Calibri"/>
                      </a:endParaRPr>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Streamlit Documentation</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Streamlit</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Streamlit</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rPr sz="900">
                          <a:solidFill>
                            <a:srgbClr val="1F2948"/>
                          </a:solidFill>
                        </a:rPr>
                        <a:t>Dashboard implementation guidance</a:t>
                      </a:r>
                      <a:endParaRPr sz="1400" u="none" cap="none"/>
                    </a:p>
                  </a:txBody>
                  <a:tcPr marL="66675" marR="66675" marT="38100" marB="38100"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extLst>
                  <a:ext uri="{0D108BD9-81ED-4DB2-BD59-A6C34878D82A}">
                    <a16:rowId xmlns:a16="http://schemas.microsoft.com/office/drawing/2014/main" val="10004"/>
                  </a:ext>
                </a:extLst>
              </a:tr>
            </a:tbl>
          </a:graphicData>
        </a:graphic>
      </p:graphicFrame>
      <p:sp>
        <p:nvSpPr>
          <p:cNvPr id="130" name="Google Shape;130;p8">
            <a:extLst>
              <a:ext uri="{FF2B5EF4-FFF2-40B4-BE49-F238E27FC236}">
                <a16:creationId xmlns:a16="http://schemas.microsoft.com/office/drawing/2014/main" id="{D9E9862F-3311-466C-8A62-45012EC6FF8F}"/>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131" name="Google Shape;131;p8">
            <a:extLst>
              <a:ext uri="{FF2B5EF4-FFF2-40B4-BE49-F238E27FC236}">
                <a16:creationId xmlns:a16="http://schemas.microsoft.com/office/drawing/2014/main" id="{41260895-0129-443D-A53D-1538D98A54A0}"/>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6</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53441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137" name="Google Shape;137;p9">
            <a:extLst>
              <a:ext uri="{FF2B5EF4-FFF2-40B4-BE49-F238E27FC236}">
                <a16:creationId xmlns:a16="http://schemas.microsoft.com/office/drawing/2014/main" id="{BA0B9DB6-7292-4DE3-B834-2870C2B4C649}"/>
              </a:ext>
            </a:extLst>
          </p:cNvPr>
          <p:cNvSpPr>
            <a:spLocks noGrp="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38" name="Google Shape;138;p9">
            <a:extLst>
              <a:ext uri="{FF2B5EF4-FFF2-40B4-BE49-F238E27FC236}">
                <a16:creationId xmlns:a16="http://schemas.microsoft.com/office/drawing/2014/main" id="{FADAA6F0-1065-470B-9A9E-46DAC2DCAE82}"/>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39" name="Google Shape;139;p9">
            <a:extLst>
              <a:ext uri="{FF2B5EF4-FFF2-40B4-BE49-F238E27FC236}">
                <a16:creationId xmlns:a16="http://schemas.microsoft.com/office/drawing/2014/main" id="{DDEF7BAB-0405-47C5-9A1A-5D6E223E517E}"/>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40" name="Google Shape;140;p9">
            <a:extLst>
              <a:ext uri="{FF2B5EF4-FFF2-40B4-BE49-F238E27FC236}">
                <a16:creationId xmlns:a16="http://schemas.microsoft.com/office/drawing/2014/main" id="{64B0053E-6981-44EC-8087-DD9B65EB8706}"/>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06</a:t>
            </a:r>
            <a:endParaRPr sz="1600" b="0" i="0" u="none" cap="none">
              <a:solidFill>
                <a:schemeClr val="dk1"/>
              </a:solidFill>
              <a:latin typeface="Calibri"/>
              <a:ea typeface="Calibri"/>
              <a:cs typeface="Calibri"/>
            </a:endParaRPr>
          </a:p>
        </p:txBody>
      </p:sp>
      <p:sp>
        <p:nvSpPr>
          <p:cNvPr id="141" name="Google Shape;141;p9">
            <a:extLst>
              <a:ext uri="{FF2B5EF4-FFF2-40B4-BE49-F238E27FC236}">
                <a16:creationId xmlns:a16="http://schemas.microsoft.com/office/drawing/2014/main" id="{81E0FBFF-D8B5-4C79-B2C7-4679203DC366}"/>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06</a:t>
            </a:r>
            <a:endParaRPr sz="1100" b="0" i="0" u="none" cap="none">
              <a:solidFill>
                <a:schemeClr val="dk1"/>
              </a:solidFill>
              <a:latin typeface="Calibri"/>
              <a:ea typeface="Calibri"/>
              <a:cs typeface="Calibri"/>
            </a:endParaRPr>
          </a:p>
        </p:txBody>
      </p:sp>
      <p:sp>
        <p:nvSpPr>
          <p:cNvPr id="142" name="Google Shape;142;p9">
            <a:extLst>
              <a:ext uri="{FF2B5EF4-FFF2-40B4-BE49-F238E27FC236}">
                <a16:creationId xmlns:a16="http://schemas.microsoft.com/office/drawing/2014/main" id="{A7A99927-1FB1-45B4-BD3D-D2A1D7FDA95B}"/>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System Workflow / Architecture</a:t>
            </a:r>
            <a:endParaRPr sz="3000" b="0" i="0" u="none" cap="none">
              <a:solidFill>
                <a:schemeClr val="dk1"/>
              </a:solidFill>
              <a:latin typeface="Calibri"/>
              <a:ea typeface="Calibri"/>
              <a:cs typeface="Calibri"/>
            </a:endParaRPr>
          </a:p>
        </p:txBody>
      </p:sp>
      <p:sp>
        <p:nvSpPr>
          <p:cNvPr id="143" name="Google Shape;143;p9">
            <a:extLst>
              <a:ext uri="{FF2B5EF4-FFF2-40B4-BE49-F238E27FC236}">
                <a16:creationId xmlns:a16="http://schemas.microsoft.com/office/drawing/2014/main" id="{4862DF25-F0D4-49B9-93FC-324C36E8B195}"/>
              </a:ext>
            </a:extLst>
          </p:cNvPr>
          <p:cNvSpPr>
            <a:spLocks noGrp="1"/>
          </p:cNvSpPr>
          <p:nvPr/>
        </p:nvSpPr>
        <p:spPr>
          <a:xfrm>
            <a:off x="1234450" y="1600200"/>
            <a:ext cx="9692700" cy="4585200"/>
          </a:xfrm>
          <a:prstGeom prst="roundRect">
            <a:avLst>
              <a:gd name="adj" fmla="val 2198"/>
            </a:avLst>
          </a:prstGeom>
          <a:solidFill>
            <a:srgbClr val="FFFFFF"/>
          </a:solidFill>
          <a:ln w="15875" cmpd="sng">
            <a:solidFill>
              <a:srgbClr val="DEE4EF"/>
            </a:solidFill>
            <a:prstDash val="dash"/>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44" name="Google Shape;144;p9">
            <a:extLst>
              <a:ext uri="{FF2B5EF4-FFF2-40B4-BE49-F238E27FC236}">
                <a16:creationId xmlns:a16="http://schemas.microsoft.com/office/drawing/2014/main" id="{93357E72-D017-45A2-8CA2-5CCCB3318314}"/>
              </a:ext>
            </a:extLst>
          </p:cNvPr>
          <p:cNvSpPr>
            <a:spLocks noGrp="1"/>
          </p:cNvSpPr>
          <p:nvPr/>
        </p:nvSpPr>
        <p:spPr>
          <a:xfrm>
            <a:off x="1828800" y="2551422"/>
            <a:ext cx="8503800" cy="2405100"/>
          </a:xfrm>
          <a:prstGeom prst="rect">
            <a:avLst/>
          </a:prstGeom>
          <a:noFill/>
          <a:ln>
            <a:noFill/>
          </a:ln>
        </p:spPr>
        <p:txBody>
          <a:bodyPr spcFirstLastPara="1" wrap="square" lIns="91425" tIns="45700" rIns="91425" bIns="45700" anchor="ctr">
            <a:noAutofit/>
          </a:bodyPr>
          <a:lstStyle/>
          <a:p>
            <a:pPr marL="0" marR="0" lvl="0" indent="0" algn="ctr">
              <a:lnSpc>
                <a:spcPct val="100000"/>
              </a:lnSpc>
              <a:spcBef>
                <a:spcPts val="0"/>
              </a:spcBef>
              <a:spcAft>
                <a:spcPts val="0"/>
              </a:spcAft>
              <a:buClr>
                <a:srgbClr val="6B7593"/>
              </a:buClr>
              <a:buSzPts val="1600"/>
              <a:buFont typeface="Calibri"/>
              <a:buNone/>
            </a:pPr>
            <a:endParaRPr sz="1350" b="0" i="0" u="none" cap="none">
              <a:solidFill>
                <a:schemeClr val="dk1"/>
              </a:solidFill>
              <a:latin typeface="Calibri"/>
              <a:ea typeface="Calibri"/>
              <a:cs typeface="Calibri"/>
            </a:endParaRPr>
          </a:p>
        </p:txBody>
      </p:sp>
      <p:sp>
        <p:nvSpPr>
          <p:cNvPr id="145" name="Google Shape;145;p9">
            <a:extLst>
              <a:ext uri="{FF2B5EF4-FFF2-40B4-BE49-F238E27FC236}">
                <a16:creationId xmlns:a16="http://schemas.microsoft.com/office/drawing/2014/main" id="{BB8D4A41-533E-40E8-AF76-C60D5165D92C}"/>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146" name="Google Shape;146;p9">
            <a:extLst>
              <a:ext uri="{FF2B5EF4-FFF2-40B4-BE49-F238E27FC236}">
                <a16:creationId xmlns:a16="http://schemas.microsoft.com/office/drawing/2014/main" id="{839B0F9D-5B9E-4AA5-A616-42C870BAC49E}"/>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7</a:t>
            </a:r>
            <a:endParaRPr sz="900" b="0" i="0" u="none" cap="none">
              <a:solidFill>
                <a:schemeClr val="dk1"/>
              </a:solidFill>
              <a:latin typeface="Calibri"/>
              <a:ea typeface="Calibri"/>
              <a:cs typeface="Calibri"/>
            </a:endParaRPr>
          </a:p>
        </p:txBody>
      </p:sp>
      <p:sp>
        <p:nvSpPr>
          <p:cNvPr id="147" name="Rectangle: Rounded Corners 146">
            <a:extLst>
              <a:ext uri="{FF2B5EF4-FFF2-40B4-BE49-F238E27FC236}">
                <a16:creationId xmlns:a16="http://schemas.microsoft.com/office/drawing/2014/main" id="{AC73D17B-EE98-4F12-86A7-796CE8C22410}"/>
              </a:ext>
            </a:extLst>
          </p:cNvPr>
          <p:cNvSpPr>
            <a:spLocks noGrp="1"/>
          </p:cNvSpPr>
          <p:nvPr/>
        </p:nvSpPr>
        <p:spPr>
          <a:xfrm>
            <a:off x="1638300" y="2143125"/>
            <a:ext cx="2571750" cy="1104900"/>
          </a:xfrm>
          <a:prstGeom prst="roundRect">
            <a:avLst>
              <a:gd name="adj" fmla="val 10345"/>
            </a:avLst>
          </a:prstGeom>
          <a:solidFill>
            <a:srgbClr val="FFFFFF"/>
          </a:solidFill>
          <a:ln w="9525">
            <a:solidFill>
              <a:srgbClr val="D7E1F0"/>
            </a:solidFill>
            <a:prstDash val="solid"/>
          </a:ln>
        </p:spPr>
      </p:sp>
      <p:sp>
        <p:nvSpPr>
          <p:cNvPr id="148" name="Rectangle 147">
            <a:extLst>
              <a:ext uri="{FF2B5EF4-FFF2-40B4-BE49-F238E27FC236}">
                <a16:creationId xmlns:a16="http://schemas.microsoft.com/office/drawing/2014/main" id="{2290C18D-0F17-495F-9A48-98B2312DC0E7}"/>
              </a:ext>
            </a:extLst>
          </p:cNvPr>
          <p:cNvSpPr>
            <a:spLocks noGrp="1"/>
          </p:cNvSpPr>
          <p:nvPr/>
        </p:nvSpPr>
        <p:spPr>
          <a:xfrm>
            <a:off x="1790700" y="2295525"/>
            <a:ext cx="2266950" cy="238125"/>
          </a:xfrm>
          <a:prstGeom prst="rect">
            <a:avLst/>
          </a:prstGeom>
          <a:noFill/>
          <a:ln w="0">
            <a:noFill/>
          </a:ln>
        </p:spPr>
        <p:txBody>
          <a:bodyPr>
            <a:normAutofit fontScale="80208" lnSpcReduction="10000"/>
          </a:bodyPr>
          <a:lstStyle/>
          <a:p>
            <a:pPr algn="ctr">
              <a:defRPr sz="1200" b="1">
                <a:solidFill>
                  <a:srgbClr val="1C789A"/>
                </a:solidFill>
              </a:defRPr>
            </a:pPr>
            <a:r>
              <a:rPr sz="1200" b="1">
                <a:solidFill>
                  <a:srgbClr val="1C789A"/>
                </a:solidFill>
              </a:rPr>
              <a:t>Retail transaction data</a:t>
            </a:r>
          </a:p>
        </p:txBody>
      </p:sp>
      <p:sp>
        <p:nvSpPr>
          <p:cNvPr id="149" name="Rectangle 148">
            <a:extLst>
              <a:ext uri="{FF2B5EF4-FFF2-40B4-BE49-F238E27FC236}">
                <a16:creationId xmlns:a16="http://schemas.microsoft.com/office/drawing/2014/main" id="{9D3E1AC9-3DF1-41E4-9EE1-7B3C6CBFEC0E}"/>
              </a:ext>
            </a:extLst>
          </p:cNvPr>
          <p:cNvSpPr>
            <a:spLocks noGrp="1"/>
          </p:cNvSpPr>
          <p:nvPr/>
        </p:nvSpPr>
        <p:spPr>
          <a:xfrm>
            <a:off x="1790700" y="2590800"/>
            <a:ext cx="2266950" cy="485775"/>
          </a:xfrm>
          <a:prstGeom prst="rect">
            <a:avLst/>
          </a:prstGeom>
          <a:noFill/>
          <a:ln w="0">
            <a:noFill/>
          </a:ln>
        </p:spPr>
        <p:txBody>
          <a:bodyPr>
            <a:normAutofit/>
          </a:bodyPr>
          <a:lstStyle/>
          <a:p>
            <a:pPr algn="ctr">
              <a:defRPr sz="975">
                <a:solidFill>
                  <a:srgbClr val="1F2948"/>
                </a:solidFill>
              </a:defRPr>
            </a:pPr>
            <a:r>
              <a:rPr sz="975">
                <a:solidFill>
                  <a:srgbClr val="1F2948"/>
                </a:solidFill>
              </a:rPr>
              <a:t>Required fields and invoice records</a:t>
            </a:r>
          </a:p>
        </p:txBody>
      </p:sp>
      <p:sp>
        <p:nvSpPr>
          <p:cNvPr id="150" name="Rectangle: Rounded Corners 149">
            <a:extLst>
              <a:ext uri="{FF2B5EF4-FFF2-40B4-BE49-F238E27FC236}">
                <a16:creationId xmlns:a16="http://schemas.microsoft.com/office/drawing/2014/main" id="{9E555C72-34A0-4F5F-8D11-EC6E12305157}"/>
              </a:ext>
            </a:extLst>
          </p:cNvPr>
          <p:cNvSpPr>
            <a:spLocks noGrp="1"/>
          </p:cNvSpPr>
          <p:nvPr/>
        </p:nvSpPr>
        <p:spPr>
          <a:xfrm>
            <a:off x="4752975" y="2143125"/>
            <a:ext cx="2571750" cy="1104900"/>
          </a:xfrm>
          <a:prstGeom prst="roundRect">
            <a:avLst>
              <a:gd name="adj" fmla="val 10345"/>
            </a:avLst>
          </a:prstGeom>
          <a:solidFill>
            <a:srgbClr val="FFFFFF"/>
          </a:solidFill>
          <a:ln w="9525">
            <a:solidFill>
              <a:srgbClr val="D7E1F0"/>
            </a:solidFill>
            <a:prstDash val="solid"/>
          </a:ln>
        </p:spPr>
      </p:sp>
      <p:sp>
        <p:nvSpPr>
          <p:cNvPr id="151" name="Rectangle 150">
            <a:extLst>
              <a:ext uri="{FF2B5EF4-FFF2-40B4-BE49-F238E27FC236}">
                <a16:creationId xmlns:a16="http://schemas.microsoft.com/office/drawing/2014/main" id="{7E5C5202-ECA6-4386-A214-9FC156B70970}"/>
              </a:ext>
            </a:extLst>
          </p:cNvPr>
          <p:cNvSpPr>
            <a:spLocks noGrp="1"/>
          </p:cNvSpPr>
          <p:nvPr/>
        </p:nvSpPr>
        <p:spPr>
          <a:xfrm>
            <a:off x="4905375" y="2295525"/>
            <a:ext cx="2266950" cy="238125"/>
          </a:xfrm>
          <a:prstGeom prst="rect">
            <a:avLst/>
          </a:prstGeom>
          <a:noFill/>
          <a:ln w="0">
            <a:noFill/>
          </a:ln>
        </p:spPr>
        <p:txBody>
          <a:bodyPr>
            <a:normAutofit fontScale="80208" lnSpcReduction="10000"/>
          </a:bodyPr>
          <a:lstStyle/>
          <a:p>
            <a:pPr algn="ctr">
              <a:defRPr sz="1200" b="1">
                <a:solidFill>
                  <a:srgbClr val="1C789A"/>
                </a:solidFill>
              </a:defRPr>
            </a:pPr>
            <a:r>
              <a:rPr sz="1200" b="1">
                <a:solidFill>
                  <a:srgbClr val="1C789A"/>
                </a:solidFill>
              </a:rPr>
              <a:t>Data preparation</a:t>
            </a:r>
          </a:p>
        </p:txBody>
      </p:sp>
      <p:sp>
        <p:nvSpPr>
          <p:cNvPr id="152" name="Rectangle 151">
            <a:extLst>
              <a:ext uri="{FF2B5EF4-FFF2-40B4-BE49-F238E27FC236}">
                <a16:creationId xmlns:a16="http://schemas.microsoft.com/office/drawing/2014/main" id="{35B755E0-88F6-4C58-8B6E-90306276B403}"/>
              </a:ext>
            </a:extLst>
          </p:cNvPr>
          <p:cNvSpPr>
            <a:spLocks noGrp="1"/>
          </p:cNvSpPr>
          <p:nvPr/>
        </p:nvSpPr>
        <p:spPr>
          <a:xfrm>
            <a:off x="4905375" y="2590800"/>
            <a:ext cx="2266950" cy="485775"/>
          </a:xfrm>
          <a:prstGeom prst="rect">
            <a:avLst/>
          </a:prstGeom>
          <a:noFill/>
          <a:ln w="0">
            <a:noFill/>
          </a:ln>
        </p:spPr>
        <p:txBody>
          <a:bodyPr>
            <a:normAutofit fontScale="88462" lnSpcReduction="10000"/>
          </a:bodyPr>
          <a:lstStyle/>
          <a:p>
            <a:pPr algn="ctr">
              <a:defRPr sz="975">
                <a:solidFill>
                  <a:srgbClr val="1F2948"/>
                </a:solidFill>
              </a:defRPr>
            </a:pPr>
            <a:r>
              <a:rPr sz="975">
                <a:solidFill>
                  <a:srgbClr val="1F2948"/>
                </a:solidFill>
              </a:rPr>
              <a:t>Remove invalid / cancelled records</a:t>
            </a:r>
          </a:p>
          <a:p>
            <a:pPr algn="ctr">
              <a:defRPr sz="975">
                <a:solidFill>
                  <a:srgbClr val="1F2948"/>
                </a:solidFill>
              </a:defRPr>
            </a:pPr>
            <a:r>
              <a:rPr sz="975">
                <a:solidFill>
                  <a:srgbClr val="1F2948"/>
                </a:solidFill>
              </a:rPr>
              <a:t>Convert InvoiceDate</a:t>
            </a:r>
          </a:p>
          <a:p>
            <a:pPr algn="ctr">
              <a:defRPr sz="975">
                <a:solidFill>
                  <a:srgbClr val="1F2948"/>
                </a:solidFill>
              </a:defRPr>
            </a:pPr>
            <a:r>
              <a:rPr sz="975">
                <a:solidFill>
                  <a:srgbClr val="1F2948"/>
                </a:solidFill>
              </a:rPr>
              <a:t>SalesAmount = Quantity × UnitPrice</a:t>
            </a:r>
          </a:p>
        </p:txBody>
      </p:sp>
      <p:sp>
        <p:nvSpPr>
          <p:cNvPr id="153" name="Rectangle: Rounded Corners 152">
            <a:extLst>
              <a:ext uri="{FF2B5EF4-FFF2-40B4-BE49-F238E27FC236}">
                <a16:creationId xmlns:a16="http://schemas.microsoft.com/office/drawing/2014/main" id="{FFAD0BBA-2CF0-480A-B390-C3E459A90D01}"/>
              </a:ext>
            </a:extLst>
          </p:cNvPr>
          <p:cNvSpPr>
            <a:spLocks noGrp="1"/>
          </p:cNvSpPr>
          <p:nvPr/>
        </p:nvSpPr>
        <p:spPr>
          <a:xfrm>
            <a:off x="7867650" y="2143125"/>
            <a:ext cx="2571750" cy="1104900"/>
          </a:xfrm>
          <a:prstGeom prst="roundRect">
            <a:avLst>
              <a:gd name="adj" fmla="val 10345"/>
            </a:avLst>
          </a:prstGeom>
          <a:solidFill>
            <a:srgbClr val="FFFFFF"/>
          </a:solidFill>
          <a:ln w="9525">
            <a:solidFill>
              <a:srgbClr val="D7E1F0"/>
            </a:solidFill>
            <a:prstDash val="solid"/>
          </a:ln>
        </p:spPr>
      </p:sp>
      <p:sp>
        <p:nvSpPr>
          <p:cNvPr id="154" name="Rectangle 153">
            <a:extLst>
              <a:ext uri="{FF2B5EF4-FFF2-40B4-BE49-F238E27FC236}">
                <a16:creationId xmlns:a16="http://schemas.microsoft.com/office/drawing/2014/main" id="{F33C7B5A-C542-47E4-8C98-F5580B5D0FD1}"/>
              </a:ext>
            </a:extLst>
          </p:cNvPr>
          <p:cNvSpPr>
            <a:spLocks noGrp="1"/>
          </p:cNvSpPr>
          <p:nvPr/>
        </p:nvSpPr>
        <p:spPr>
          <a:xfrm>
            <a:off x="8020050" y="2295525"/>
            <a:ext cx="2266950" cy="238125"/>
          </a:xfrm>
          <a:prstGeom prst="rect">
            <a:avLst/>
          </a:prstGeom>
          <a:noFill/>
          <a:ln w="0">
            <a:noFill/>
          </a:ln>
        </p:spPr>
        <p:txBody>
          <a:bodyPr>
            <a:normAutofit fontScale="80208" lnSpcReduction="10000"/>
          </a:bodyPr>
          <a:lstStyle/>
          <a:p>
            <a:pPr algn="ctr">
              <a:defRPr sz="1200" b="1">
                <a:solidFill>
                  <a:srgbClr val="1C789A"/>
                </a:solidFill>
              </a:defRPr>
            </a:pPr>
            <a:r>
              <a:rPr sz="1200" b="1">
                <a:solidFill>
                  <a:srgbClr val="1C789A"/>
                </a:solidFill>
              </a:rPr>
              <a:t>Daily sales series</a:t>
            </a:r>
          </a:p>
        </p:txBody>
      </p:sp>
      <p:sp>
        <p:nvSpPr>
          <p:cNvPr id="155" name="Rectangle 154">
            <a:extLst>
              <a:ext uri="{FF2B5EF4-FFF2-40B4-BE49-F238E27FC236}">
                <a16:creationId xmlns:a16="http://schemas.microsoft.com/office/drawing/2014/main" id="{A66D7D0B-4A1F-45F5-B523-6DA1F9E4FBE8}"/>
              </a:ext>
            </a:extLst>
          </p:cNvPr>
          <p:cNvSpPr>
            <a:spLocks noGrp="1"/>
          </p:cNvSpPr>
          <p:nvPr/>
        </p:nvSpPr>
        <p:spPr>
          <a:xfrm>
            <a:off x="8020050" y="2590800"/>
            <a:ext cx="2266950" cy="485775"/>
          </a:xfrm>
          <a:prstGeom prst="rect">
            <a:avLst/>
          </a:prstGeom>
          <a:noFill/>
          <a:ln w="0">
            <a:noFill/>
          </a:ln>
        </p:spPr>
        <p:txBody>
          <a:bodyPr>
            <a:normAutofit fontScale="88462" lnSpcReduction="10000"/>
          </a:bodyPr>
          <a:lstStyle/>
          <a:p>
            <a:pPr algn="ctr">
              <a:defRPr sz="975">
                <a:solidFill>
                  <a:srgbClr val="1F2948"/>
                </a:solidFill>
              </a:defRPr>
            </a:pPr>
            <a:r>
              <a:rPr sz="975">
                <a:solidFill>
                  <a:srgbClr val="1F2948"/>
                </a:solidFill>
              </a:rPr>
              <a:t>Aggregate daily values</a:t>
            </a:r>
          </a:p>
          <a:p>
            <a:pPr algn="ctr">
              <a:defRPr sz="975">
                <a:solidFill>
                  <a:srgbClr val="1F2948"/>
                </a:solidFill>
              </a:defRPr>
            </a:pPr>
            <a:r>
              <a:rPr sz="975">
                <a:solidFill>
                  <a:srgbClr val="1F2948"/>
                </a:solidFill>
              </a:rPr>
              <a:t>Trend, rolling average, seasonality, stationarity</a:t>
            </a:r>
          </a:p>
        </p:txBody>
      </p:sp>
      <p:sp>
        <p:nvSpPr>
          <p:cNvPr id="156" name="Rectangle: Rounded Corners 155">
            <a:extLst>
              <a:ext uri="{FF2B5EF4-FFF2-40B4-BE49-F238E27FC236}">
                <a16:creationId xmlns:a16="http://schemas.microsoft.com/office/drawing/2014/main" id="{7F8415E5-7605-4EA0-96CD-874639AB0074}"/>
              </a:ext>
            </a:extLst>
          </p:cNvPr>
          <p:cNvSpPr>
            <a:spLocks noGrp="1"/>
          </p:cNvSpPr>
          <p:nvPr/>
        </p:nvSpPr>
        <p:spPr>
          <a:xfrm>
            <a:off x="1638300" y="3857625"/>
            <a:ext cx="2571750" cy="1104900"/>
          </a:xfrm>
          <a:prstGeom prst="roundRect">
            <a:avLst>
              <a:gd name="adj" fmla="val 10345"/>
            </a:avLst>
          </a:prstGeom>
          <a:solidFill>
            <a:srgbClr val="FFFFFF"/>
          </a:solidFill>
          <a:ln w="9525">
            <a:solidFill>
              <a:srgbClr val="D7E1F0"/>
            </a:solidFill>
            <a:prstDash val="solid"/>
          </a:ln>
        </p:spPr>
      </p:sp>
      <p:sp>
        <p:nvSpPr>
          <p:cNvPr id="157" name="Rectangle 156">
            <a:extLst>
              <a:ext uri="{FF2B5EF4-FFF2-40B4-BE49-F238E27FC236}">
                <a16:creationId xmlns:a16="http://schemas.microsoft.com/office/drawing/2014/main" id="{4C8F10E4-89A7-41EE-A3C7-C955BC6FF38D}"/>
              </a:ext>
            </a:extLst>
          </p:cNvPr>
          <p:cNvSpPr>
            <a:spLocks noGrp="1"/>
          </p:cNvSpPr>
          <p:nvPr/>
        </p:nvSpPr>
        <p:spPr>
          <a:xfrm>
            <a:off x="1790700" y="4010025"/>
            <a:ext cx="2266950" cy="238125"/>
          </a:xfrm>
          <a:prstGeom prst="rect">
            <a:avLst/>
          </a:prstGeom>
          <a:noFill/>
          <a:ln w="0">
            <a:noFill/>
          </a:ln>
        </p:spPr>
        <p:txBody>
          <a:bodyPr>
            <a:normAutofit fontScale="80208" lnSpcReduction="10000"/>
          </a:bodyPr>
          <a:lstStyle/>
          <a:p>
            <a:pPr algn="ctr">
              <a:defRPr sz="1200" b="1">
                <a:solidFill>
                  <a:srgbClr val="1C789A"/>
                </a:solidFill>
              </a:defRPr>
            </a:pPr>
            <a:r>
              <a:rPr sz="1200" b="1">
                <a:solidFill>
                  <a:srgbClr val="1C789A"/>
                </a:solidFill>
              </a:rPr>
              <a:t>Chronological split</a:t>
            </a:r>
          </a:p>
        </p:txBody>
      </p:sp>
      <p:sp>
        <p:nvSpPr>
          <p:cNvPr id="158" name="Rectangle 157">
            <a:extLst>
              <a:ext uri="{FF2B5EF4-FFF2-40B4-BE49-F238E27FC236}">
                <a16:creationId xmlns:a16="http://schemas.microsoft.com/office/drawing/2014/main" id="{4757DF28-23B1-4B99-AEAA-ED0088681521}"/>
              </a:ext>
            </a:extLst>
          </p:cNvPr>
          <p:cNvSpPr>
            <a:spLocks noGrp="1"/>
          </p:cNvSpPr>
          <p:nvPr/>
        </p:nvSpPr>
        <p:spPr>
          <a:xfrm>
            <a:off x="1790700" y="4305300"/>
            <a:ext cx="2266950" cy="485775"/>
          </a:xfrm>
          <a:prstGeom prst="rect">
            <a:avLst/>
          </a:prstGeom>
          <a:noFill/>
          <a:ln w="0">
            <a:noFill/>
          </a:ln>
        </p:spPr>
        <p:txBody>
          <a:bodyPr>
            <a:normAutofit/>
          </a:bodyPr>
          <a:lstStyle/>
          <a:p>
            <a:pPr algn="ctr">
              <a:defRPr sz="975">
                <a:solidFill>
                  <a:srgbClr val="1F2948"/>
                </a:solidFill>
              </a:defRPr>
            </a:pPr>
            <a:r>
              <a:rPr sz="975">
                <a:solidFill>
                  <a:srgbClr val="1F2948"/>
                </a:solidFill>
              </a:rPr>
              <a:t>Earlier data for training</a:t>
            </a:r>
          </a:p>
          <a:p>
            <a:pPr algn="ctr">
              <a:defRPr sz="975">
                <a:solidFill>
                  <a:srgbClr val="1F2948"/>
                </a:solidFill>
              </a:defRPr>
            </a:pPr>
            <a:r>
              <a:rPr sz="975">
                <a:solidFill>
                  <a:srgbClr val="1F2948"/>
                </a:solidFill>
              </a:rPr>
              <a:t>Latest observations for testing</a:t>
            </a:r>
          </a:p>
        </p:txBody>
      </p:sp>
      <p:sp>
        <p:nvSpPr>
          <p:cNvPr id="159" name="Rectangle: Rounded Corners 158">
            <a:extLst>
              <a:ext uri="{FF2B5EF4-FFF2-40B4-BE49-F238E27FC236}">
                <a16:creationId xmlns:a16="http://schemas.microsoft.com/office/drawing/2014/main" id="{183DC3F1-59B2-4825-A6B3-7E7868A340CA}"/>
              </a:ext>
            </a:extLst>
          </p:cNvPr>
          <p:cNvSpPr>
            <a:spLocks noGrp="1"/>
          </p:cNvSpPr>
          <p:nvPr/>
        </p:nvSpPr>
        <p:spPr>
          <a:xfrm>
            <a:off x="4752975" y="3857625"/>
            <a:ext cx="2571750" cy="1104900"/>
          </a:xfrm>
          <a:prstGeom prst="roundRect">
            <a:avLst>
              <a:gd name="adj" fmla="val 10345"/>
            </a:avLst>
          </a:prstGeom>
          <a:solidFill>
            <a:srgbClr val="FFFFFF"/>
          </a:solidFill>
          <a:ln w="9525">
            <a:solidFill>
              <a:srgbClr val="D7E1F0"/>
            </a:solidFill>
            <a:prstDash val="solid"/>
          </a:ln>
        </p:spPr>
      </p:sp>
      <p:sp>
        <p:nvSpPr>
          <p:cNvPr id="160" name="Rectangle 159">
            <a:extLst>
              <a:ext uri="{FF2B5EF4-FFF2-40B4-BE49-F238E27FC236}">
                <a16:creationId xmlns:a16="http://schemas.microsoft.com/office/drawing/2014/main" id="{C6F01464-8476-4BED-95D6-0B1B2D07B9D2}"/>
              </a:ext>
            </a:extLst>
          </p:cNvPr>
          <p:cNvSpPr>
            <a:spLocks noGrp="1"/>
          </p:cNvSpPr>
          <p:nvPr/>
        </p:nvSpPr>
        <p:spPr>
          <a:xfrm>
            <a:off x="4905375" y="4010025"/>
            <a:ext cx="2266950" cy="238125"/>
          </a:xfrm>
          <a:prstGeom prst="rect">
            <a:avLst/>
          </a:prstGeom>
          <a:noFill/>
          <a:ln w="0">
            <a:noFill/>
          </a:ln>
        </p:spPr>
        <p:txBody>
          <a:bodyPr>
            <a:normAutofit fontScale="80208" lnSpcReduction="10000"/>
          </a:bodyPr>
          <a:lstStyle/>
          <a:p>
            <a:pPr algn="ctr">
              <a:defRPr sz="1200" b="1">
                <a:solidFill>
                  <a:srgbClr val="1C789A"/>
                </a:solidFill>
              </a:defRPr>
            </a:pPr>
            <a:r>
              <a:rPr sz="1200" b="1">
                <a:solidFill>
                  <a:srgbClr val="1C789A"/>
                </a:solidFill>
              </a:rPr>
              <a:t>Model evaluation</a:t>
            </a:r>
          </a:p>
        </p:txBody>
      </p:sp>
      <p:sp>
        <p:nvSpPr>
          <p:cNvPr id="161" name="Rectangle 160">
            <a:extLst>
              <a:ext uri="{FF2B5EF4-FFF2-40B4-BE49-F238E27FC236}">
                <a16:creationId xmlns:a16="http://schemas.microsoft.com/office/drawing/2014/main" id="{59D71B67-6B4F-42AD-8AA6-912F542622A2}"/>
              </a:ext>
            </a:extLst>
          </p:cNvPr>
          <p:cNvSpPr>
            <a:spLocks noGrp="1"/>
          </p:cNvSpPr>
          <p:nvPr/>
        </p:nvSpPr>
        <p:spPr>
          <a:xfrm>
            <a:off x="4905375" y="4305300"/>
            <a:ext cx="2266950" cy="485775"/>
          </a:xfrm>
          <a:prstGeom prst="rect">
            <a:avLst/>
          </a:prstGeom>
          <a:noFill/>
          <a:ln w="0">
            <a:noFill/>
          </a:ln>
        </p:spPr>
        <p:txBody>
          <a:bodyPr>
            <a:normAutofit/>
          </a:bodyPr>
          <a:lstStyle/>
          <a:p>
            <a:pPr algn="ctr">
              <a:defRPr sz="975">
                <a:solidFill>
                  <a:srgbClr val="1F2948"/>
                </a:solidFill>
              </a:defRPr>
            </a:pPr>
            <a:r>
              <a:rPr sz="975">
                <a:solidFill>
                  <a:srgbClr val="1F2948"/>
                </a:solidFill>
              </a:rPr>
              <a:t>Naive · ARIMA · SARIMA</a:t>
            </a:r>
          </a:p>
          <a:p>
            <a:pPr algn="ctr">
              <a:defRPr sz="975">
                <a:solidFill>
                  <a:srgbClr val="1F2948"/>
                </a:solidFill>
              </a:defRPr>
            </a:pPr>
            <a:r>
              <a:rPr sz="975">
                <a:solidFill>
                  <a:srgbClr val="1F2948"/>
                </a:solidFill>
              </a:rPr>
              <a:t>MAE · RMSE · MAPE</a:t>
            </a:r>
          </a:p>
        </p:txBody>
      </p:sp>
      <p:sp>
        <p:nvSpPr>
          <p:cNvPr id="162" name="Rectangle: Rounded Corners 161">
            <a:extLst>
              <a:ext uri="{FF2B5EF4-FFF2-40B4-BE49-F238E27FC236}">
                <a16:creationId xmlns:a16="http://schemas.microsoft.com/office/drawing/2014/main" id="{0C9CDAB4-2AFF-4214-9D51-F34B70F7D5EB}"/>
              </a:ext>
            </a:extLst>
          </p:cNvPr>
          <p:cNvSpPr>
            <a:spLocks noGrp="1"/>
          </p:cNvSpPr>
          <p:nvPr/>
        </p:nvSpPr>
        <p:spPr>
          <a:xfrm>
            <a:off x="7867650" y="3857625"/>
            <a:ext cx="2571750" cy="1104900"/>
          </a:xfrm>
          <a:prstGeom prst="roundRect">
            <a:avLst>
              <a:gd name="adj" fmla="val 10345"/>
            </a:avLst>
          </a:prstGeom>
          <a:solidFill>
            <a:srgbClr val="FFFFFF"/>
          </a:solidFill>
          <a:ln w="9525">
            <a:solidFill>
              <a:srgbClr val="D7E1F0"/>
            </a:solidFill>
            <a:prstDash val="solid"/>
          </a:ln>
        </p:spPr>
      </p:sp>
      <p:sp>
        <p:nvSpPr>
          <p:cNvPr id="163" name="Rectangle 162">
            <a:extLst>
              <a:ext uri="{FF2B5EF4-FFF2-40B4-BE49-F238E27FC236}">
                <a16:creationId xmlns:a16="http://schemas.microsoft.com/office/drawing/2014/main" id="{B20ECB02-D543-48EA-8CB0-B7FF6CEB1C40}"/>
              </a:ext>
            </a:extLst>
          </p:cNvPr>
          <p:cNvSpPr>
            <a:spLocks noGrp="1"/>
          </p:cNvSpPr>
          <p:nvPr/>
        </p:nvSpPr>
        <p:spPr>
          <a:xfrm>
            <a:off x="8020050" y="4010025"/>
            <a:ext cx="2266950" cy="238125"/>
          </a:xfrm>
          <a:prstGeom prst="rect">
            <a:avLst/>
          </a:prstGeom>
          <a:noFill/>
          <a:ln w="0">
            <a:noFill/>
          </a:ln>
        </p:spPr>
        <p:txBody>
          <a:bodyPr>
            <a:normAutofit fontScale="80208" lnSpcReduction="10000"/>
          </a:bodyPr>
          <a:lstStyle/>
          <a:p>
            <a:pPr algn="ctr">
              <a:defRPr sz="1200" b="1">
                <a:solidFill>
                  <a:srgbClr val="1C789A"/>
                </a:solidFill>
              </a:defRPr>
            </a:pPr>
            <a:r>
              <a:rPr sz="1200" b="1">
                <a:solidFill>
                  <a:srgbClr val="1C789A"/>
                </a:solidFill>
              </a:rPr>
              <a:t>Forecast dashboard</a:t>
            </a:r>
          </a:p>
        </p:txBody>
      </p:sp>
      <p:sp>
        <p:nvSpPr>
          <p:cNvPr id="164" name="Rectangle 163">
            <a:extLst>
              <a:ext uri="{FF2B5EF4-FFF2-40B4-BE49-F238E27FC236}">
                <a16:creationId xmlns:a16="http://schemas.microsoft.com/office/drawing/2014/main" id="{D32308B5-C554-4F41-A1CE-DB96EEBEA1BE}"/>
              </a:ext>
            </a:extLst>
          </p:cNvPr>
          <p:cNvSpPr>
            <a:spLocks noGrp="1"/>
          </p:cNvSpPr>
          <p:nvPr/>
        </p:nvSpPr>
        <p:spPr>
          <a:xfrm>
            <a:off x="8020050" y="4305300"/>
            <a:ext cx="2266950" cy="485775"/>
          </a:xfrm>
          <a:prstGeom prst="rect">
            <a:avLst/>
          </a:prstGeom>
          <a:noFill/>
          <a:ln w="0">
            <a:noFill/>
          </a:ln>
        </p:spPr>
        <p:txBody>
          <a:bodyPr>
            <a:normAutofit/>
          </a:bodyPr>
          <a:lstStyle/>
          <a:p>
            <a:pPr algn="ctr">
              <a:defRPr sz="975">
                <a:solidFill>
                  <a:srgbClr val="1F2948"/>
                </a:solidFill>
              </a:defRPr>
            </a:pPr>
            <a:r>
              <a:rPr sz="975">
                <a:solidFill>
                  <a:srgbClr val="1F2948"/>
                </a:solidFill>
              </a:rPr>
              <a:t>Select best model</a:t>
            </a:r>
          </a:p>
          <a:p>
            <a:pPr algn="ctr">
              <a:defRPr sz="975">
                <a:solidFill>
                  <a:srgbClr val="1F2948"/>
                </a:solidFill>
              </a:defRPr>
            </a:pPr>
            <a:r>
              <a:rPr sz="975">
                <a:solidFill>
                  <a:srgbClr val="1F2948"/>
                </a:solidFill>
              </a:rPr>
              <a:t>30-day forecast in Streamlit</a:t>
            </a:r>
          </a:p>
        </p:txBody>
      </p:sp>
      <p:cxnSp>
        <p:nvCxnSpPr>
          <p:cNvPr id="198" name="Straight Arrow Connector 197"/>
          <p:cNvCxnSpPr>
            <a:stCxn id="147" idx="3"/>
            <a:endCxn id="150" idx="1"/>
          </p:cNvCxnSpPr>
          <p:nvPr/>
        </p:nvCxnSpPr>
        <p:spPr>
          <a:xfrm>
            <a:off x="4210050" y="2695575"/>
            <a:ext cx="542925" cy="0"/>
          </a:xfrm>
          <a:prstGeom prst="straightConnector1">
            <a:avLst/>
          </a:prstGeom>
          <a:ln w="19050">
            <a:solidFill>
              <a:srgbClr val="1C789A"/>
            </a:solidFill>
            <a:prstDash val="solid"/>
            <a:tailEnd type="arrow" w="sm" len="sm"/>
          </a:ln>
        </p:spPr>
      </p:cxnSp>
      <p:cxnSp>
        <p:nvCxnSpPr>
          <p:cNvPr id="199" name="Straight Arrow Connector 198"/>
          <p:cNvCxnSpPr>
            <a:stCxn id="150" idx="3"/>
            <a:endCxn id="153" idx="1"/>
          </p:cNvCxnSpPr>
          <p:nvPr/>
        </p:nvCxnSpPr>
        <p:spPr>
          <a:xfrm>
            <a:off x="7324725" y="2695575"/>
            <a:ext cx="542925" cy="0"/>
          </a:xfrm>
          <a:prstGeom prst="straightConnector1">
            <a:avLst/>
          </a:prstGeom>
          <a:ln w="19050">
            <a:solidFill>
              <a:srgbClr val="1C789A"/>
            </a:solidFill>
            <a:prstDash val="solid"/>
            <a:tailEnd type="arrow" w="sm" len="sm"/>
          </a:ln>
        </p:spPr>
      </p:cxnSp>
      <p:cxnSp>
        <p:nvCxnSpPr>
          <p:cNvPr id="200" name="Connector: Elbow 199"/>
          <p:cNvCxnSpPr>
            <a:stCxn id="153" idx="2"/>
            <a:endCxn id="156" idx="0"/>
          </p:cNvCxnSpPr>
          <p:nvPr/>
        </p:nvCxnSpPr>
        <p:spPr>
          <a:xfrm flipH="1">
            <a:off x="2924175" y="3248025"/>
            <a:ext cx="6229350" cy="609600"/>
          </a:xfrm>
          <a:prstGeom prst="bentConnector4">
            <a:avLst>
              <a:gd name="adj1" fmla="val 0"/>
              <a:gd name="adj2" fmla="val 50000"/>
            </a:avLst>
          </a:prstGeom>
          <a:ln w="19050">
            <a:solidFill>
              <a:srgbClr val="1C789A"/>
            </a:solidFill>
            <a:prstDash val="solid"/>
            <a:tailEnd type="arrow" w="sm" len="sm"/>
          </a:ln>
        </p:spPr>
      </p:cxnSp>
      <p:cxnSp>
        <p:nvCxnSpPr>
          <p:cNvPr id="201" name="Straight Arrow Connector 200"/>
          <p:cNvCxnSpPr>
            <a:stCxn id="156" idx="3"/>
            <a:endCxn id="159" idx="1"/>
          </p:cNvCxnSpPr>
          <p:nvPr/>
        </p:nvCxnSpPr>
        <p:spPr>
          <a:xfrm>
            <a:off x="4210050" y="4410075"/>
            <a:ext cx="542925" cy="0"/>
          </a:xfrm>
          <a:prstGeom prst="straightConnector1">
            <a:avLst/>
          </a:prstGeom>
          <a:ln w="19050">
            <a:solidFill>
              <a:srgbClr val="1C789A"/>
            </a:solidFill>
            <a:prstDash val="solid"/>
            <a:tailEnd type="arrow" w="sm" len="sm"/>
          </a:ln>
        </p:spPr>
      </p:cxnSp>
      <p:cxnSp>
        <p:nvCxnSpPr>
          <p:cNvPr id="202" name="Straight Arrow Connector 201"/>
          <p:cNvCxnSpPr>
            <a:stCxn id="159" idx="3"/>
            <a:endCxn id="162" idx="1"/>
          </p:cNvCxnSpPr>
          <p:nvPr/>
        </p:nvCxnSpPr>
        <p:spPr>
          <a:xfrm>
            <a:off x="7324725" y="4410075"/>
            <a:ext cx="542925" cy="0"/>
          </a:xfrm>
          <a:prstGeom prst="straightConnector1">
            <a:avLst/>
          </a:prstGeom>
          <a:ln w="19050">
            <a:solidFill>
              <a:srgbClr val="1C789A"/>
            </a:solidFill>
            <a:prstDash val="solid"/>
            <a:tailEnd type="arrow" w="sm" len="sm"/>
          </a:ln>
        </p:spPr>
      </p:cxnSp>
    </p:spTree>
    <p:extLst>
      <p:ext uri="{BB962C8B-B14F-4D97-AF65-F5344CB8AC3E}">
        <p14:creationId xmlns:p14="http://schemas.microsoft.com/office/powerpoint/2010/main" val="185325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152" name="Google Shape;152;p10">
            <a:extLst>
              <a:ext uri="{FF2B5EF4-FFF2-40B4-BE49-F238E27FC236}">
                <a16:creationId xmlns:a16="http://schemas.microsoft.com/office/drawing/2014/main" id="{047A115E-7790-4653-B04A-09A7459B9EBB}"/>
              </a:ext>
            </a:extLst>
          </p:cNvPr>
          <p:cNvSpPr>
            <a:spLocks noGrp="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53" name="Google Shape;153;p10">
            <a:extLst>
              <a:ext uri="{FF2B5EF4-FFF2-40B4-BE49-F238E27FC236}">
                <a16:creationId xmlns:a16="http://schemas.microsoft.com/office/drawing/2014/main" id="{9340EF70-DC22-4DA8-AC4A-81E317737483}"/>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54" name="Google Shape;154;p10">
            <a:extLst>
              <a:ext uri="{FF2B5EF4-FFF2-40B4-BE49-F238E27FC236}">
                <a16:creationId xmlns:a16="http://schemas.microsoft.com/office/drawing/2014/main" id="{8F752A06-792D-4A85-8382-BAA982992420}"/>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55" name="Google Shape;155;p10">
            <a:extLst>
              <a:ext uri="{FF2B5EF4-FFF2-40B4-BE49-F238E27FC236}">
                <a16:creationId xmlns:a16="http://schemas.microsoft.com/office/drawing/2014/main" id="{D695AA86-AAF2-4A4F-AE62-0EA2F9E42AB8}"/>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07</a:t>
            </a:r>
            <a:endParaRPr sz="1600" b="0" i="0" u="none" cap="none">
              <a:solidFill>
                <a:schemeClr val="dk1"/>
              </a:solidFill>
              <a:latin typeface="Calibri"/>
              <a:ea typeface="Calibri"/>
              <a:cs typeface="Calibri"/>
            </a:endParaRPr>
          </a:p>
        </p:txBody>
      </p:sp>
      <p:sp>
        <p:nvSpPr>
          <p:cNvPr id="156" name="Google Shape;156;p10">
            <a:extLst>
              <a:ext uri="{FF2B5EF4-FFF2-40B4-BE49-F238E27FC236}">
                <a16:creationId xmlns:a16="http://schemas.microsoft.com/office/drawing/2014/main" id="{AD39513B-A0BC-491C-B00D-7CE7E54BF66A}"/>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07</a:t>
            </a:r>
            <a:endParaRPr sz="1100" b="0" i="0" u="none" cap="none">
              <a:solidFill>
                <a:schemeClr val="dk1"/>
              </a:solidFill>
              <a:latin typeface="Calibri"/>
              <a:ea typeface="Calibri"/>
              <a:cs typeface="Calibri"/>
            </a:endParaRPr>
          </a:p>
        </p:txBody>
      </p:sp>
      <p:sp>
        <p:nvSpPr>
          <p:cNvPr id="157" name="Google Shape;157;p10">
            <a:extLst>
              <a:ext uri="{FF2B5EF4-FFF2-40B4-BE49-F238E27FC236}">
                <a16:creationId xmlns:a16="http://schemas.microsoft.com/office/drawing/2014/main" id="{9169FA45-EE30-4E01-9D37-E4F97A8C4C92}"/>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Expected Outcome</a:t>
            </a:r>
            <a:endParaRPr sz="3000" b="0" i="0" u="none" cap="none">
              <a:solidFill>
                <a:schemeClr val="dk1"/>
              </a:solidFill>
              <a:latin typeface="Calibri"/>
              <a:ea typeface="Calibri"/>
              <a:cs typeface="Calibri"/>
            </a:endParaRPr>
          </a:p>
        </p:txBody>
      </p:sp>
      <p:sp>
        <p:nvSpPr>
          <p:cNvPr id="158" name="Google Shape;158;p10">
            <a:extLst>
              <a:ext uri="{FF2B5EF4-FFF2-40B4-BE49-F238E27FC236}">
                <a16:creationId xmlns:a16="http://schemas.microsoft.com/office/drawing/2014/main" id="{844795D6-BC29-4E90-9418-213E0858C367}"/>
              </a:ext>
            </a:extLst>
          </p:cNvPr>
          <p:cNvSpPr>
            <a:spLocks noGrp="1"/>
          </p:cNvSpPr>
          <p:nvPr/>
        </p:nvSpPr>
        <p:spPr>
          <a:xfrm>
            <a:off x="1249640" y="1600190"/>
            <a:ext cx="9692700" cy="777300"/>
          </a:xfrm>
          <a:prstGeom prst="roundRect">
            <a:avLst>
              <a:gd name="adj" fmla="val 10588"/>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59" name="Google Shape;159;p10">
            <a:extLst>
              <a:ext uri="{FF2B5EF4-FFF2-40B4-BE49-F238E27FC236}">
                <a16:creationId xmlns:a16="http://schemas.microsoft.com/office/drawing/2014/main" id="{EAB3E59B-679B-4E84-9656-71A5D6B3E4F2}"/>
              </a:ext>
            </a:extLst>
          </p:cNvPr>
          <p:cNvSpPr>
            <a:spLocks noGrp="1"/>
          </p:cNvSpPr>
          <p:nvPr/>
        </p:nvSpPr>
        <p:spPr>
          <a:xfrm>
            <a:off x="1478240" y="1801358"/>
            <a:ext cx="384000" cy="384000"/>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60" name="Google Shape;160;p10">
            <a:extLst>
              <a:ext uri="{FF2B5EF4-FFF2-40B4-BE49-F238E27FC236}">
                <a16:creationId xmlns:a16="http://schemas.microsoft.com/office/drawing/2014/main" id="{E265FEF5-8A9E-4944-9E49-1F4149873378}"/>
              </a:ext>
            </a:extLst>
          </p:cNvPr>
          <p:cNvSpPr>
            <a:spLocks noGrp="1"/>
          </p:cNvSpPr>
          <p:nvPr/>
        </p:nvSpPr>
        <p:spPr>
          <a:xfrm>
            <a:off x="1478240" y="1801358"/>
            <a:ext cx="384000" cy="384000"/>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1" name="Google Shape;161;p10">
            <a:extLst>
              <a:ext uri="{FF2B5EF4-FFF2-40B4-BE49-F238E27FC236}">
                <a16:creationId xmlns:a16="http://schemas.microsoft.com/office/drawing/2014/main" id="{AABA292D-D704-4E39-8071-33B7F01788C6}"/>
              </a:ext>
            </a:extLst>
          </p:cNvPr>
          <p:cNvSpPr>
            <a:spLocks noGrp="1"/>
          </p:cNvSpPr>
          <p:nvPr/>
        </p:nvSpPr>
        <p:spPr>
          <a:xfrm>
            <a:off x="2072600" y="1600190"/>
            <a:ext cx="8595300" cy="7773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400"/>
              <a:buFont typeface="Calibri"/>
              <a:buNone/>
              <a:defRPr sz="1200">
                <a:solidFill>
                  <a:srgbClr val="1F2948"/>
                </a:solidFill>
              </a:defRPr>
            </a:pPr>
            <a:r>
              <a:rPr sz="1200">
                <a:solidFill>
                  <a:srgbClr val="1F2948"/>
                </a:solidFill>
              </a:rPr>
              <a:t>Working sales analysis and forecasting dashboard with documented data preparation.</a:t>
            </a:r>
            <a:endParaRPr sz="1400" b="0" i="0" u="none" cap="none">
              <a:solidFill>
                <a:schemeClr val="dk1"/>
              </a:solidFill>
              <a:latin typeface="Calibri"/>
              <a:ea typeface="Calibri"/>
              <a:cs typeface="Calibri"/>
            </a:endParaRPr>
          </a:p>
        </p:txBody>
      </p:sp>
      <p:sp>
        <p:nvSpPr>
          <p:cNvPr id="162" name="Google Shape;162;p10">
            <a:extLst>
              <a:ext uri="{FF2B5EF4-FFF2-40B4-BE49-F238E27FC236}">
                <a16:creationId xmlns:a16="http://schemas.microsoft.com/office/drawing/2014/main" id="{333C944E-04C1-4AC7-B0BD-1210433FABE0}"/>
              </a:ext>
            </a:extLst>
          </p:cNvPr>
          <p:cNvSpPr>
            <a:spLocks noGrp="1"/>
          </p:cNvSpPr>
          <p:nvPr/>
        </p:nvSpPr>
        <p:spPr>
          <a:xfrm>
            <a:off x="1249640" y="2560310"/>
            <a:ext cx="9692700" cy="777300"/>
          </a:xfrm>
          <a:prstGeom prst="roundRect">
            <a:avLst>
              <a:gd name="adj" fmla="val 10588"/>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63" name="Google Shape;163;p10">
            <a:extLst>
              <a:ext uri="{FF2B5EF4-FFF2-40B4-BE49-F238E27FC236}">
                <a16:creationId xmlns:a16="http://schemas.microsoft.com/office/drawing/2014/main" id="{C85E271B-5012-4922-A6ED-CD1B853030D5}"/>
              </a:ext>
            </a:extLst>
          </p:cNvPr>
          <p:cNvSpPr>
            <a:spLocks noGrp="1"/>
          </p:cNvSpPr>
          <p:nvPr/>
        </p:nvSpPr>
        <p:spPr>
          <a:xfrm>
            <a:off x="1478240" y="2761478"/>
            <a:ext cx="384000" cy="384000"/>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64" name="Google Shape;164;p10">
            <a:extLst>
              <a:ext uri="{FF2B5EF4-FFF2-40B4-BE49-F238E27FC236}">
                <a16:creationId xmlns:a16="http://schemas.microsoft.com/office/drawing/2014/main" id="{9E11FF91-14FE-4255-931D-CCD98DC3F013}"/>
              </a:ext>
            </a:extLst>
          </p:cNvPr>
          <p:cNvSpPr>
            <a:spLocks noGrp="1"/>
          </p:cNvSpPr>
          <p:nvPr/>
        </p:nvSpPr>
        <p:spPr>
          <a:xfrm>
            <a:off x="1478240" y="2761478"/>
            <a:ext cx="384000" cy="384000"/>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5" name="Google Shape;165;p10">
            <a:extLst>
              <a:ext uri="{FF2B5EF4-FFF2-40B4-BE49-F238E27FC236}">
                <a16:creationId xmlns:a16="http://schemas.microsoft.com/office/drawing/2014/main" id="{4B3B219A-CF92-4411-BB7A-651058BEA949}"/>
              </a:ext>
            </a:extLst>
          </p:cNvPr>
          <p:cNvSpPr>
            <a:spLocks noGrp="1"/>
          </p:cNvSpPr>
          <p:nvPr/>
        </p:nvSpPr>
        <p:spPr>
          <a:xfrm>
            <a:off x="2072600" y="2560310"/>
            <a:ext cx="8595300" cy="7773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400"/>
              <a:buFont typeface="Calibri"/>
              <a:buNone/>
              <a:defRPr sz="1200">
                <a:solidFill>
                  <a:srgbClr val="1F2948"/>
                </a:solidFill>
              </a:defRPr>
            </a:pPr>
            <a:r>
              <a:rPr sz="1200">
                <a:solidFill>
                  <a:srgbClr val="1F2948"/>
                </a:solidFill>
              </a:rPr>
              <a:t>Saved charts, model comparison metrics, and a future forecast file.</a:t>
            </a:r>
            <a:endParaRPr sz="1400" b="0" i="0" u="none" cap="none">
              <a:solidFill>
                <a:schemeClr val="dk1"/>
              </a:solidFill>
              <a:latin typeface="Calibri"/>
              <a:ea typeface="Calibri"/>
              <a:cs typeface="Calibri"/>
            </a:endParaRPr>
          </a:p>
        </p:txBody>
      </p:sp>
      <p:sp>
        <p:nvSpPr>
          <p:cNvPr id="166" name="Google Shape;166;p10">
            <a:extLst>
              <a:ext uri="{FF2B5EF4-FFF2-40B4-BE49-F238E27FC236}">
                <a16:creationId xmlns:a16="http://schemas.microsoft.com/office/drawing/2014/main" id="{7557C865-FFE2-446C-A9AF-2D856D218991}"/>
              </a:ext>
            </a:extLst>
          </p:cNvPr>
          <p:cNvSpPr>
            <a:spLocks noGrp="1"/>
          </p:cNvSpPr>
          <p:nvPr/>
        </p:nvSpPr>
        <p:spPr>
          <a:xfrm>
            <a:off x="1249640" y="3520430"/>
            <a:ext cx="9692700" cy="777300"/>
          </a:xfrm>
          <a:prstGeom prst="roundRect">
            <a:avLst>
              <a:gd name="adj" fmla="val 10588"/>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67" name="Google Shape;167;p10">
            <a:extLst>
              <a:ext uri="{FF2B5EF4-FFF2-40B4-BE49-F238E27FC236}">
                <a16:creationId xmlns:a16="http://schemas.microsoft.com/office/drawing/2014/main" id="{DBFE191F-9105-4BAC-A7DA-ED4E92A029A3}"/>
              </a:ext>
            </a:extLst>
          </p:cNvPr>
          <p:cNvSpPr>
            <a:spLocks noGrp="1"/>
          </p:cNvSpPr>
          <p:nvPr/>
        </p:nvSpPr>
        <p:spPr>
          <a:xfrm>
            <a:off x="1478240" y="3721598"/>
            <a:ext cx="384000" cy="384000"/>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68" name="Google Shape;168;p10">
            <a:extLst>
              <a:ext uri="{FF2B5EF4-FFF2-40B4-BE49-F238E27FC236}">
                <a16:creationId xmlns:a16="http://schemas.microsoft.com/office/drawing/2014/main" id="{701C1977-A338-48FD-B574-D083AA924D2B}"/>
              </a:ext>
            </a:extLst>
          </p:cNvPr>
          <p:cNvSpPr>
            <a:spLocks noGrp="1"/>
          </p:cNvSpPr>
          <p:nvPr/>
        </p:nvSpPr>
        <p:spPr>
          <a:xfrm>
            <a:off x="1478240" y="3721598"/>
            <a:ext cx="384000" cy="384000"/>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9" name="Google Shape;169;p10">
            <a:extLst>
              <a:ext uri="{FF2B5EF4-FFF2-40B4-BE49-F238E27FC236}">
                <a16:creationId xmlns:a16="http://schemas.microsoft.com/office/drawing/2014/main" id="{159B75B7-E7BA-4AC6-A1F2-C852125180AC}"/>
              </a:ext>
            </a:extLst>
          </p:cNvPr>
          <p:cNvSpPr>
            <a:spLocks noGrp="1"/>
          </p:cNvSpPr>
          <p:nvPr/>
        </p:nvSpPr>
        <p:spPr>
          <a:xfrm>
            <a:off x="2072600" y="3520430"/>
            <a:ext cx="8595300" cy="7773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400"/>
              <a:buFont typeface="Calibri"/>
              <a:buNone/>
              <a:defRPr sz="1200">
                <a:solidFill>
                  <a:srgbClr val="1F2948"/>
                </a:solidFill>
              </a:defRPr>
            </a:pPr>
            <a:r>
              <a:rPr sz="1200">
                <a:solidFill>
                  <a:srgbClr val="1F2948"/>
                </a:solidFill>
              </a:rPr>
              <a:t>Prototype focuses on aggregate daily sales for academic demonstration.</a:t>
            </a:r>
            <a:endParaRPr sz="1400" b="0" i="0" u="none" cap="none">
              <a:solidFill>
                <a:schemeClr val="dk1"/>
              </a:solidFill>
              <a:latin typeface="Calibri"/>
              <a:ea typeface="Calibri"/>
              <a:cs typeface="Calibri"/>
            </a:endParaRPr>
          </a:p>
        </p:txBody>
      </p:sp>
      <p:sp>
        <p:nvSpPr>
          <p:cNvPr id="170" name="Google Shape;170;p10">
            <a:extLst>
              <a:ext uri="{FF2B5EF4-FFF2-40B4-BE49-F238E27FC236}">
                <a16:creationId xmlns:a16="http://schemas.microsoft.com/office/drawing/2014/main" id="{B723396C-65C3-41D2-B0E2-6CD212241F64}"/>
              </a:ext>
            </a:extLst>
          </p:cNvPr>
          <p:cNvSpPr>
            <a:spLocks noGrp="1"/>
          </p:cNvSpPr>
          <p:nvPr/>
        </p:nvSpPr>
        <p:spPr>
          <a:xfrm>
            <a:off x="1249640" y="4480550"/>
            <a:ext cx="9692700" cy="777300"/>
          </a:xfrm>
          <a:prstGeom prst="roundRect">
            <a:avLst>
              <a:gd name="adj" fmla="val 10588"/>
            </a:avLst>
          </a:prstGeom>
          <a:solidFill>
            <a:srgbClr val="FFFFFF"/>
          </a:solidFill>
          <a:ln w="12700" cmpd="sng">
            <a:solidFill>
              <a:srgbClr val="DEE4EF"/>
            </a:solidFill>
            <a:prstDash val="soli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71" name="Google Shape;171;p10">
            <a:extLst>
              <a:ext uri="{FF2B5EF4-FFF2-40B4-BE49-F238E27FC236}">
                <a16:creationId xmlns:a16="http://schemas.microsoft.com/office/drawing/2014/main" id="{1A201FFB-72DB-4F21-A833-D03D952FAE74}"/>
              </a:ext>
            </a:extLst>
          </p:cNvPr>
          <p:cNvSpPr>
            <a:spLocks noGrp="1"/>
          </p:cNvSpPr>
          <p:nvPr/>
        </p:nvSpPr>
        <p:spPr>
          <a:xfrm>
            <a:off x="1478240" y="4681718"/>
            <a:ext cx="384000" cy="384000"/>
          </a:xfrm>
          <a:prstGeom prst="ellipse">
            <a:avLst/>
          </a:prstGeom>
          <a:solidFill>
            <a:srgbClr val="1C729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72" name="Google Shape;172;p10">
            <a:extLst>
              <a:ext uri="{FF2B5EF4-FFF2-40B4-BE49-F238E27FC236}">
                <a16:creationId xmlns:a16="http://schemas.microsoft.com/office/drawing/2014/main" id="{BB6CFADF-836F-432A-997A-C1172087D4C2}"/>
              </a:ext>
            </a:extLst>
          </p:cNvPr>
          <p:cNvSpPr>
            <a:spLocks noGrp="1"/>
          </p:cNvSpPr>
          <p:nvPr/>
        </p:nvSpPr>
        <p:spPr>
          <a:xfrm>
            <a:off x="1478240" y="4681718"/>
            <a:ext cx="384000" cy="384000"/>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73" name="Google Shape;173;p10">
            <a:extLst>
              <a:ext uri="{FF2B5EF4-FFF2-40B4-BE49-F238E27FC236}">
                <a16:creationId xmlns:a16="http://schemas.microsoft.com/office/drawing/2014/main" id="{15CEC5CE-ABB0-40F1-BDC0-9DE509737062}"/>
              </a:ext>
            </a:extLst>
          </p:cNvPr>
          <p:cNvSpPr>
            <a:spLocks noGrp="1"/>
          </p:cNvSpPr>
          <p:nvPr/>
        </p:nvSpPr>
        <p:spPr>
          <a:xfrm>
            <a:off x="2072600" y="4480550"/>
            <a:ext cx="8595300" cy="7773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1B1F3B"/>
              </a:buClr>
              <a:buSzPts val="1400"/>
              <a:buFont typeface="Calibri"/>
              <a:buNone/>
              <a:defRPr sz="1200">
                <a:solidFill>
                  <a:srgbClr val="1F2948"/>
                </a:solidFill>
              </a:defRPr>
            </a:pPr>
            <a:r>
              <a:rPr sz="1200">
                <a:solidFill>
                  <a:srgbClr val="1F2948"/>
                </a:solidFill>
              </a:rPr>
              <a:t>Scope excludes inventory management and exact-sales guarantees. Future work can add product-level forecasts and external features.</a:t>
            </a:r>
            <a:endParaRPr sz="1400" b="0" i="0" u="none" cap="none">
              <a:solidFill>
                <a:schemeClr val="dk1"/>
              </a:solidFill>
              <a:latin typeface="Calibri"/>
              <a:ea typeface="Calibri"/>
              <a:cs typeface="Calibri"/>
            </a:endParaRPr>
          </a:p>
        </p:txBody>
      </p:sp>
      <p:sp>
        <p:nvSpPr>
          <p:cNvPr id="174" name="Google Shape;174;p10">
            <a:extLst>
              <a:ext uri="{FF2B5EF4-FFF2-40B4-BE49-F238E27FC236}">
                <a16:creationId xmlns:a16="http://schemas.microsoft.com/office/drawing/2014/main" id="{15B582EE-2A4A-45BC-96B5-7F7D8D88C07D}"/>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175" name="Google Shape;175;p10">
            <a:extLst>
              <a:ext uri="{FF2B5EF4-FFF2-40B4-BE49-F238E27FC236}">
                <a16:creationId xmlns:a16="http://schemas.microsoft.com/office/drawing/2014/main" id="{1A7A5D1D-60E0-42CC-BFEF-27E75666A6A9}"/>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8</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739191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181" name="Google Shape;181;p11">
            <a:extLst>
              <a:ext uri="{FF2B5EF4-FFF2-40B4-BE49-F238E27FC236}">
                <a16:creationId xmlns:a16="http://schemas.microsoft.com/office/drawing/2014/main" id="{621CD5EE-5901-4189-B303-EEDF8E98C9E8}"/>
              </a:ext>
            </a:extLst>
          </p:cNvPr>
          <p:cNvSpPr>
            <a:spLocks noGrp="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82" name="Google Shape;182;p11">
            <a:extLst>
              <a:ext uri="{FF2B5EF4-FFF2-40B4-BE49-F238E27FC236}">
                <a16:creationId xmlns:a16="http://schemas.microsoft.com/office/drawing/2014/main" id="{445E8E89-8C98-4F69-B052-13D6ABB555DC}"/>
              </a:ext>
            </a:extLst>
          </p:cNvPr>
          <p:cNvSpPr>
            <a:spLocks noGrp="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83" name="Google Shape;183;p11">
            <a:extLst>
              <a:ext uri="{FF2B5EF4-FFF2-40B4-BE49-F238E27FC236}">
                <a16:creationId xmlns:a16="http://schemas.microsoft.com/office/drawing/2014/main" id="{CB596C1E-76C0-48E0-90BB-6264AEC0B14B}"/>
              </a:ext>
            </a:extLst>
          </p:cNvPr>
          <p:cNvSpPr>
            <a:spLocks noGrp="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84" name="Google Shape;184;p11">
            <a:extLst>
              <a:ext uri="{FF2B5EF4-FFF2-40B4-BE49-F238E27FC236}">
                <a16:creationId xmlns:a16="http://schemas.microsoft.com/office/drawing/2014/main" id="{DA037408-2DA6-4E57-B89C-EABBCD8880D5}"/>
              </a:ext>
            </a:extLst>
          </p:cNvPr>
          <p:cNvSpPr>
            <a:spLocks noGrp="1"/>
          </p:cNvSpPr>
          <p:nvPr/>
        </p:nvSpPr>
        <p:spPr>
          <a:xfrm>
            <a:off x="502920" y="457200"/>
            <a:ext cx="530352" cy="530352"/>
          </a:xfrm>
          <a:prstGeom prst="rect">
            <a:avLst/>
          </a:prstGeom>
          <a:noFill/>
          <a:ln>
            <a:noFill/>
          </a:ln>
        </p:spPr>
        <p:txBody>
          <a:bodyPr spcFirstLastPara="1" wrap="square" lIns="0" tIns="0" rIns="0" bIns="0" anchor="ctr">
            <a:noAutofit/>
          </a:bodyPr>
          <a:lstStyle/>
          <a:p>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08</a:t>
            </a:r>
            <a:endParaRPr sz="1600" b="0" i="0" u="none" cap="none">
              <a:solidFill>
                <a:schemeClr val="dk1"/>
              </a:solidFill>
              <a:latin typeface="Calibri"/>
              <a:ea typeface="Calibri"/>
              <a:cs typeface="Calibri"/>
            </a:endParaRPr>
          </a:p>
        </p:txBody>
      </p:sp>
      <p:sp>
        <p:nvSpPr>
          <p:cNvPr id="185" name="Google Shape;185;p11">
            <a:extLst>
              <a:ext uri="{FF2B5EF4-FFF2-40B4-BE49-F238E27FC236}">
                <a16:creationId xmlns:a16="http://schemas.microsoft.com/office/drawing/2014/main" id="{8AC4AB61-3781-4D4E-B516-CF5BD239A373}"/>
              </a:ext>
            </a:extLst>
          </p:cNvPr>
          <p:cNvSpPr>
            <a:spLocks noGrp="1"/>
          </p:cNvSpPr>
          <p:nvPr/>
        </p:nvSpPr>
        <p:spPr>
          <a:xfrm>
            <a:off x="1234440" y="429768"/>
            <a:ext cx="86868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08</a:t>
            </a:r>
            <a:endParaRPr sz="1100" b="0" i="0" u="none" cap="none">
              <a:solidFill>
                <a:schemeClr val="dk1"/>
              </a:solidFill>
              <a:latin typeface="Calibri"/>
              <a:ea typeface="Calibri"/>
              <a:cs typeface="Calibri"/>
            </a:endParaRPr>
          </a:p>
        </p:txBody>
      </p:sp>
      <p:sp>
        <p:nvSpPr>
          <p:cNvPr id="186" name="Google Shape;186;p11">
            <a:extLst>
              <a:ext uri="{FF2B5EF4-FFF2-40B4-BE49-F238E27FC236}">
                <a16:creationId xmlns:a16="http://schemas.microsoft.com/office/drawing/2014/main" id="{0B79A0A0-08B0-4891-AEF3-AD5C95CE4E6A}"/>
              </a:ext>
            </a:extLst>
          </p:cNvPr>
          <p:cNvSpPr>
            <a:spLocks noGrp="1"/>
          </p:cNvSpPr>
          <p:nvPr/>
        </p:nvSpPr>
        <p:spPr>
          <a:xfrm>
            <a:off x="1234440" y="676656"/>
            <a:ext cx="9692640" cy="566928"/>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References</a:t>
            </a:r>
            <a:endParaRPr sz="3000" b="0" i="0" u="none" cap="none">
              <a:solidFill>
                <a:schemeClr val="dk1"/>
              </a:solidFill>
              <a:latin typeface="Calibri"/>
              <a:ea typeface="Calibri"/>
              <a:cs typeface="Calibri"/>
            </a:endParaRPr>
          </a:p>
        </p:txBody>
      </p:sp>
      <p:sp>
        <p:nvSpPr>
          <p:cNvPr id="187" name="Google Shape;187;p11">
            <a:extLst>
              <a:ext uri="{FF2B5EF4-FFF2-40B4-BE49-F238E27FC236}">
                <a16:creationId xmlns:a16="http://schemas.microsoft.com/office/drawing/2014/main" id="{609DB48C-CCC4-4811-8B7F-505EA5D851E0}"/>
              </a:ext>
            </a:extLst>
          </p:cNvPr>
          <p:cNvSpPr>
            <a:spLocks noGrp="1"/>
          </p:cNvSpPr>
          <p:nvPr/>
        </p:nvSpPr>
        <p:spPr>
          <a:xfrm>
            <a:off x="1249640" y="4563960"/>
            <a:ext cx="9692700" cy="320100"/>
          </a:xfrm>
          <a:prstGeom prst="rect">
            <a:avLst/>
          </a:prstGeom>
          <a:noFill/>
          <a:ln>
            <a:noFill/>
          </a:ln>
        </p:spPr>
        <p:txBody>
          <a:bodyPr spcFirstLastPara="1" wrap="square" lIns="91425" tIns="45700" rIns="91425" bIns="45700" anchor="ctr">
            <a:normAutofit/>
          </a:bodyPr>
          <a:lstStyle/>
          <a:p>
            <a:pPr marL="0" marR="0" lvl="0" indent="0" algn="l">
              <a:lnSpc>
                <a:spcPct val="100000"/>
              </a:lnSpc>
              <a:spcBef>
                <a:spcPts val="0"/>
              </a:spcBef>
              <a:spcAft>
                <a:spcPts val="0"/>
              </a:spcAft>
              <a:buClr>
                <a:srgbClr val="6B7593"/>
              </a:buClr>
              <a:buSzPts val="1300"/>
              <a:buFont typeface="Calibri"/>
              <a:buNone/>
              <a:defRPr sz="1125" i="1">
                <a:solidFill>
                  <a:srgbClr val="607098"/>
                </a:solidFill>
              </a:defRPr>
            </a:pPr>
            <a:r>
              <a:rPr sz="1125" b="0" i="1" u="none" cap="none">
                <a:solidFill>
                  <a:srgbClr val="607098"/>
                </a:solidFill>
                <a:latin typeface="Calibri"/>
                <a:ea typeface="Calibri"/>
                <a:cs typeface="Calibri"/>
              </a:rPr>
              <a:t>References reproduced from the project synopsis.</a:t>
            </a:r>
            <a:endParaRPr sz="1400" b="0" i="0" u="none" cap="none">
              <a:solidFill>
                <a:schemeClr val="dk1"/>
              </a:solidFill>
              <a:latin typeface="Calibri"/>
              <a:ea typeface="Calibri"/>
              <a:cs typeface="Calibri"/>
            </a:endParaRPr>
          </a:p>
        </p:txBody>
      </p:sp>
      <p:sp>
        <p:nvSpPr>
          <p:cNvPr id="188" name="Google Shape;188;p11">
            <a:extLst>
              <a:ext uri="{FF2B5EF4-FFF2-40B4-BE49-F238E27FC236}">
                <a16:creationId xmlns:a16="http://schemas.microsoft.com/office/drawing/2014/main" id="{47A0D461-C5C9-4568-84B7-B7AB3A1D04C0}"/>
              </a:ext>
            </a:extLst>
          </p:cNvPr>
          <p:cNvSpPr>
            <a:spLocks noGrp="1"/>
          </p:cNvSpPr>
          <p:nvPr/>
        </p:nvSpPr>
        <p:spPr>
          <a:xfrm>
            <a:off x="1249650" y="1243575"/>
            <a:ext cx="9692700" cy="3004200"/>
          </a:xfrm>
          <a:prstGeom prst="rect">
            <a:avLst/>
          </a:prstGeom>
          <a:noFill/>
          <a:ln>
            <a:noFill/>
          </a:ln>
        </p:spPr>
        <p:txBody>
          <a:bodyPr spcFirstLastPara="1" wrap="square" lIns="91425" tIns="45700" rIns="91425" bIns="45700" anchor="ctr">
            <a:normAutofit/>
          </a:bodyPr>
          <a:lstStyle/>
          <a:p>
            <a:pPr marL="0" marR="0" lvl="0" indent="0" algn="l">
              <a:lnSpc>
                <a:spcPct val="120000"/>
              </a:lnSpc>
              <a:spcBef>
                <a:spcPts val="0"/>
              </a:spcBef>
              <a:spcAft>
                <a:spcPts val="0"/>
              </a:spcAft>
              <a:buClr>
                <a:srgbClr val="1B1F3B"/>
              </a:buClr>
              <a:buSzPts val="1300"/>
              <a:buFont typeface="Calibri"/>
              <a:buNone/>
              <a:defRPr sz="1125">
                <a:solidFill>
                  <a:srgbClr val="1F2948"/>
                </a:solidFill>
              </a:defRPr>
            </a:pPr>
            <a:r>
              <a:rPr sz="1125" b="0" i="1" u="none" cap="none">
                <a:solidFill>
                  <a:srgbClr val="1F2948"/>
                </a:solidFill>
                <a:latin typeface="Calibri"/>
                <a:ea typeface="Calibri"/>
                <a:cs typeface="Calibri"/>
              </a:rPr>
              <a:t>[1] D. Chen, "Online Retail Dataset," UCI Machine Learning Repository, 2015. doi: 10.24432/C5BW33</a:t>
            </a: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chemeClr val="dk1"/>
              </a:buClr>
              <a:buSzPts val="1300"/>
              <a:buFont typeface="Calibri"/>
              <a:buNone/>
            </a:pP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rgbClr val="1B1F3B"/>
              </a:buClr>
              <a:buSzPts val="1300"/>
              <a:buFont typeface="Calibri"/>
              <a:buNone/>
              <a:defRPr sz="1125">
                <a:solidFill>
                  <a:srgbClr val="1F2948"/>
                </a:solidFill>
              </a:defRPr>
            </a:pPr>
            <a:r>
              <a:rPr sz="1125" b="0" i="1" u="none" cap="none">
                <a:solidFill>
                  <a:srgbClr val="1F2948"/>
                </a:solidFill>
                <a:latin typeface="Calibri"/>
                <a:ea typeface="Calibri"/>
                <a:cs typeface="Calibri"/>
              </a:rPr>
              <a:t>[2] R. J. Hyndman and G. Athanasopoulos, Forecasting: Principles and Practice, OTexts.</a:t>
            </a: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rgbClr val="1B1F3B"/>
              </a:buClr>
              <a:buSzPts val="1300"/>
              <a:buFont typeface="Calibri"/>
              <a:buNone/>
            </a:pP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rgbClr val="1B1F3B"/>
              </a:buClr>
              <a:buSzPts val="1300"/>
              <a:buFont typeface="Calibri"/>
              <a:buNone/>
              <a:defRPr sz="1125">
                <a:solidFill>
                  <a:srgbClr val="1F2948"/>
                </a:solidFill>
              </a:defRPr>
            </a:pPr>
            <a:r>
              <a:rPr sz="1125" b="0" i="1" u="none" cap="none">
                <a:solidFill>
                  <a:srgbClr val="1F2948"/>
                </a:solidFill>
                <a:latin typeface="Calibri"/>
                <a:ea typeface="Calibri"/>
                <a:cs typeface="Calibri"/>
              </a:rPr>
              <a:t>[3] Statsmodels Developers, "ARIMA and SARIMAX Documentation." https://www.statsmodels.org/</a:t>
            </a: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rgbClr val="1B1F3B"/>
              </a:buClr>
              <a:buSzPts val="1300"/>
              <a:buFont typeface="Calibri"/>
              <a:buNone/>
            </a:pP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rgbClr val="1B1F3B"/>
              </a:buClr>
              <a:buSzPts val="1300"/>
              <a:buFont typeface="Calibri"/>
              <a:buNone/>
              <a:defRPr sz="1125">
                <a:solidFill>
                  <a:srgbClr val="1F2948"/>
                </a:solidFill>
              </a:defRPr>
            </a:pPr>
            <a:r>
              <a:rPr sz="1125" b="0" i="1" u="none" cap="none">
                <a:solidFill>
                  <a:srgbClr val="1F2948"/>
                </a:solidFill>
                <a:latin typeface="Calibri"/>
                <a:ea typeface="Calibri"/>
                <a:cs typeface="Calibri"/>
              </a:rPr>
              <a:t>[4] Streamlit Documentation. https://docs.streamlit.io/</a:t>
            </a: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rgbClr val="1B1F3B"/>
              </a:buClr>
              <a:buSzPts val="1300"/>
              <a:buFont typeface="Calibri"/>
              <a:buNone/>
            </a:pPr>
            <a:endParaRPr sz="1300" b="0" i="0" u="none" cap="none">
              <a:solidFill>
                <a:schemeClr val="dk1"/>
              </a:solidFill>
              <a:latin typeface="Calibri"/>
              <a:ea typeface="Calibri"/>
              <a:cs typeface="Calibri"/>
            </a:endParaRPr>
          </a:p>
          <a:p>
            <a:pPr marL="0" marR="0" lvl="0" indent="0" algn="l">
              <a:lnSpc>
                <a:spcPct val="120000"/>
              </a:lnSpc>
              <a:spcBef>
                <a:spcPts val="0"/>
              </a:spcBef>
              <a:spcAft>
                <a:spcPts val="0"/>
              </a:spcAft>
              <a:buClr>
                <a:srgbClr val="1B1F3B"/>
              </a:buClr>
              <a:buSzPts val="1300"/>
              <a:buFont typeface="Calibri"/>
              <a:buNone/>
              <a:defRPr sz="1125">
                <a:solidFill>
                  <a:srgbClr val="1F2948"/>
                </a:solidFill>
              </a:defRPr>
            </a:pPr>
            <a:r>
              <a:rPr sz="1125" b="0" i="1" u="none" cap="none">
                <a:solidFill>
                  <a:srgbClr val="1F2948"/>
                </a:solidFill>
                <a:latin typeface="Calibri"/>
                <a:ea typeface="Calibri"/>
                <a:cs typeface="Calibri"/>
              </a:rPr>
              <a:t>[5] scikit-learn Developers, "Metrics Documentation." https://scikit-learn.org/</a:t>
            </a:r>
            <a:endParaRPr sz="1300" b="0" i="0" u="none" cap="none">
              <a:solidFill>
                <a:schemeClr val="dk1"/>
              </a:solidFill>
              <a:latin typeface="Calibri"/>
              <a:ea typeface="Calibri"/>
              <a:cs typeface="Calibri"/>
            </a:endParaRPr>
          </a:p>
        </p:txBody>
      </p:sp>
      <p:sp>
        <p:nvSpPr>
          <p:cNvPr id="189" name="Google Shape;189;p11">
            <a:extLst>
              <a:ext uri="{FF2B5EF4-FFF2-40B4-BE49-F238E27FC236}">
                <a16:creationId xmlns:a16="http://schemas.microsoft.com/office/drawing/2014/main" id="{9611ADA0-9695-4159-8215-2732D8A0ECB5}"/>
              </a:ext>
            </a:extLst>
          </p:cNvPr>
          <p:cNvSpPr>
            <a:spLocks noGrp="1"/>
          </p:cNvSpPr>
          <p:nvPr/>
        </p:nvSpPr>
        <p:spPr>
          <a:xfrm>
            <a:off x="502920" y="6519672"/>
            <a:ext cx="7315200" cy="274320"/>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BCS753  ·  B.TECH MAJOR PROJECT PRESENTATION</a:t>
            </a:r>
            <a:endParaRPr sz="900" b="0" i="0" u="none" cap="none">
              <a:solidFill>
                <a:schemeClr val="dk1"/>
              </a:solidFill>
              <a:latin typeface="Calibri"/>
              <a:ea typeface="Calibri"/>
              <a:cs typeface="Calibri"/>
            </a:endParaRPr>
          </a:p>
        </p:txBody>
      </p:sp>
      <p:sp>
        <p:nvSpPr>
          <p:cNvPr id="190" name="Google Shape;190;p11">
            <a:extLst>
              <a:ext uri="{FF2B5EF4-FFF2-40B4-BE49-F238E27FC236}">
                <a16:creationId xmlns:a16="http://schemas.microsoft.com/office/drawing/2014/main" id="{EC6809F1-78DC-465F-9AF6-9EFC83529774}"/>
              </a:ext>
            </a:extLst>
          </p:cNvPr>
          <p:cNvSpPr>
            <a:spLocks noGrp="1"/>
          </p:cNvSpPr>
          <p:nvPr/>
        </p:nvSpPr>
        <p:spPr>
          <a:xfrm>
            <a:off x="11228832" y="6519672"/>
            <a:ext cx="457200" cy="274320"/>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9</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439981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196" name="Google Shape;196;p12">
            <a:extLst>
              <a:ext uri="{FF2B5EF4-FFF2-40B4-BE49-F238E27FC236}">
                <a16:creationId xmlns:a16="http://schemas.microsoft.com/office/drawing/2014/main" id="{39A9E195-2E95-441E-BFB9-95074C05EEDD}"/>
              </a:ext>
            </a:extLst>
          </p:cNvPr>
          <p:cNvSpPr>
            <a:spLocks noGrp="1"/>
          </p:cNvSpPr>
          <p:nvPr/>
        </p:nvSpPr>
        <p:spPr>
          <a:xfrm>
            <a:off x="10424160" y="-1463040"/>
            <a:ext cx="3108960" cy="3108960"/>
          </a:xfrm>
          <a:prstGeom prst="ellipse">
            <a:avLst/>
          </a:prstGeom>
          <a:solidFill>
            <a:srgbClr val="1C7293">
              <a:alpha val="18039"/>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97" name="Google Shape;197;p12">
            <a:extLst>
              <a:ext uri="{FF2B5EF4-FFF2-40B4-BE49-F238E27FC236}">
                <a16:creationId xmlns:a16="http://schemas.microsoft.com/office/drawing/2014/main" id="{1D45FC42-02ED-4B10-95EC-41B884E6AAF8}"/>
              </a:ext>
            </a:extLst>
          </p:cNvPr>
          <p:cNvSpPr>
            <a:spLocks noGrp="1"/>
          </p:cNvSpPr>
          <p:nvPr/>
        </p:nvSpPr>
        <p:spPr>
          <a:xfrm>
            <a:off x="-1097280" y="5669280"/>
            <a:ext cx="2194560" cy="2194560"/>
          </a:xfrm>
          <a:prstGeom prst="ellipse">
            <a:avLst/>
          </a:prstGeom>
          <a:solidFill>
            <a:srgbClr val="CFE3EE">
              <a:alpha val="10196"/>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98" name="Google Shape;198;p12">
            <a:extLst>
              <a:ext uri="{FF2B5EF4-FFF2-40B4-BE49-F238E27FC236}">
                <a16:creationId xmlns:a16="http://schemas.microsoft.com/office/drawing/2014/main" id="{855C0127-0BDD-4C73-8048-263AC74B535C}"/>
              </a:ext>
            </a:extLst>
          </p:cNvPr>
          <p:cNvSpPr>
            <a:spLocks noGrp="1"/>
          </p:cNvSpPr>
          <p:nvPr/>
        </p:nvSpPr>
        <p:spPr>
          <a:xfrm>
            <a:off x="914400" y="2468880"/>
            <a:ext cx="10360152" cy="1005840"/>
          </a:xfrm>
          <a:prstGeom prst="rect">
            <a:avLst/>
          </a:prstGeom>
          <a:noFill/>
          <a:ln>
            <a:noFill/>
          </a:ln>
        </p:spPr>
        <p:txBody>
          <a:bodyPr spcFirstLastPara="1" wrap="square" lIns="91425" tIns="45700" rIns="91425" bIns="45700" anchor="ctr">
            <a:noAutofit/>
          </a:bodyPr>
          <a:lstStyle/>
          <a:p>
            <a:pPr marL="0" marR="0" lvl="0" indent="0" algn="ctr">
              <a:lnSpc>
                <a:spcPct val="100000"/>
              </a:lnSpc>
              <a:spcBef>
                <a:spcPts val="0"/>
              </a:spcBef>
              <a:spcAft>
                <a:spcPts val="0"/>
              </a:spcAft>
              <a:buClr>
                <a:srgbClr val="FFFFFF"/>
              </a:buClr>
              <a:buSzPts val="4800"/>
              <a:buFont typeface="Cambria"/>
              <a:buNone/>
            </a:pPr>
            <a:r>
              <a:rPr sz="4800" b="1" i="0" u="none" cap="none">
                <a:solidFill>
                  <a:srgbClr val="FFFFFF"/>
                </a:solidFill>
                <a:latin typeface="Cambria"/>
                <a:ea typeface="Cambria"/>
                <a:cs typeface="Cambria"/>
              </a:rPr>
              <a:t>THANK YOU</a:t>
            </a:r>
            <a:endParaRPr sz="4800" b="0" i="0" u="none" cap="none">
              <a:solidFill>
                <a:schemeClr val="dk1"/>
              </a:solidFill>
              <a:latin typeface="Calibri"/>
              <a:ea typeface="Calibri"/>
              <a:cs typeface="Calibri"/>
            </a:endParaRPr>
          </a:p>
        </p:txBody>
      </p:sp>
      <p:sp>
        <p:nvSpPr>
          <p:cNvPr id="199" name="Google Shape;199;p12">
            <a:extLst>
              <a:ext uri="{FF2B5EF4-FFF2-40B4-BE49-F238E27FC236}">
                <a16:creationId xmlns:a16="http://schemas.microsoft.com/office/drawing/2014/main" id="{75AA6BC8-3AE0-479B-AAC1-E9A4CBB53C36}"/>
              </a:ext>
            </a:extLst>
          </p:cNvPr>
          <p:cNvSpPr>
            <a:spLocks noGrp="1"/>
          </p:cNvSpPr>
          <p:nvPr/>
        </p:nvSpPr>
        <p:spPr>
          <a:xfrm>
            <a:off x="914400" y="3520440"/>
            <a:ext cx="10360152" cy="457200"/>
          </a:xfrm>
          <a:prstGeom prst="rect">
            <a:avLst/>
          </a:prstGeom>
          <a:noFill/>
          <a:ln>
            <a:noFill/>
          </a:ln>
        </p:spPr>
        <p:txBody>
          <a:bodyPr spcFirstLastPara="1" wrap="square" lIns="91425" tIns="45700" rIns="91425" bIns="45700" anchor="ctr">
            <a:normAutofit/>
          </a:bodyPr>
          <a:lstStyle/>
          <a:p>
            <a:pPr marL="0" marR="0" lvl="0" indent="0" algn="ctr">
              <a:lnSpc>
                <a:spcPct val="100000"/>
              </a:lnSpc>
              <a:spcBef>
                <a:spcPts val="0"/>
              </a:spcBef>
              <a:spcAft>
                <a:spcPts val="0"/>
              </a:spcAft>
              <a:buClr>
                <a:srgbClr val="CFE3EE"/>
              </a:buClr>
              <a:buSzPts val="1600"/>
              <a:buFont typeface="Calibri"/>
              <a:buNone/>
              <a:defRPr sz="1500" i="1">
                <a:solidFill>
                  <a:srgbClr val="D7E5F4"/>
                </a:solidFill>
              </a:defRPr>
            </a:pPr>
            <a:r>
              <a:rPr sz="1500" b="0" i="1" u="none" cap="none">
                <a:solidFill>
                  <a:srgbClr val="D7E5F4"/>
                </a:solidFill>
                <a:latin typeface="Calibri"/>
                <a:ea typeface="Calibri"/>
                <a:cs typeface="Calibri"/>
              </a:rPr>
              <a:t>Sales and Demand Forecasting using Time Series Analysis</a:t>
            </a:r>
            <a:endParaRPr sz="1600" b="0" i="0" u="none" cap="none">
              <a:solidFill>
                <a:schemeClr val="dk1"/>
              </a:solidFill>
              <a:latin typeface="Calibri"/>
              <a:ea typeface="Calibri"/>
              <a:cs typeface="Calibri"/>
            </a:endParaRPr>
          </a:p>
        </p:txBody>
      </p:sp>
      <p:cxnSp>
        <p:nvCxnSpPr>
          <p:cNvPr id="206" name="Google Shape;200;p12"/>
          <p:cNvCxnSpPr/>
          <p:nvPr/>
        </p:nvCxnSpPr>
        <p:spPr>
          <a:xfrm>
            <a:off x="5271516" y="4160520"/>
            <a:ext cx="1645920" cy="0"/>
          </a:xfrm>
          <a:prstGeom prst="straightConnector1">
            <a:avLst/>
          </a:prstGeom>
          <a:ln w="25400" cap="flat">
            <a:solidFill>
              <a:srgbClr val="1C7293"/>
            </a:solidFill>
            <a:prstDash val="solid"/>
            <a:round/>
            <a:headEnd type="none" w="sm" len="sm"/>
            <a:tailEnd type="none" w="sm" len="sm"/>
          </a:ln>
        </p:spPr>
      </p:cxnSp>
      <p:sp>
        <p:nvSpPr>
          <p:cNvPr id="201" name="Google Shape;201;p12">
            <a:extLst>
              <a:ext uri="{FF2B5EF4-FFF2-40B4-BE49-F238E27FC236}">
                <a16:creationId xmlns:a16="http://schemas.microsoft.com/office/drawing/2014/main" id="{B87E7F69-6885-4A57-83DE-DA0B1B32EFCE}"/>
              </a:ext>
            </a:extLst>
          </p:cNvPr>
          <p:cNvSpPr>
            <a:spLocks noGrp="1"/>
          </p:cNvSpPr>
          <p:nvPr/>
        </p:nvSpPr>
        <p:spPr>
          <a:xfrm>
            <a:off x="915925" y="4559880"/>
            <a:ext cx="10360200" cy="320100"/>
          </a:xfrm>
          <a:prstGeom prst="rect">
            <a:avLst/>
          </a:prstGeom>
          <a:noFill/>
          <a:ln>
            <a:noFill/>
          </a:ln>
        </p:spPr>
        <p:txBody>
          <a:bodyPr spcFirstLastPara="1" wrap="square" lIns="91425" tIns="45700" rIns="91425" bIns="45700" anchor="ctr">
            <a:noAutofit/>
          </a:bodyPr>
          <a:lstStyle/>
          <a:p>
            <a:pPr marL="0" marR="0" lvl="0" indent="0" algn="ctr">
              <a:lnSpc>
                <a:spcPct val="100000"/>
              </a:lnSpc>
              <a:spcBef>
                <a:spcPts val="0"/>
              </a:spcBef>
              <a:spcAft>
                <a:spcPts val="0"/>
              </a:spcAft>
              <a:buClr>
                <a:srgbClr val="CFE3EE"/>
              </a:buClr>
              <a:buSzPts val="1100"/>
              <a:buFont typeface="Calibri"/>
              <a:buNone/>
            </a:pPr>
            <a:r>
              <a:rPr sz="1300" b="0" i="0" u="none" cap="none">
                <a:solidFill>
                  <a:srgbClr val="CFE3EE"/>
                </a:solidFill>
                <a:latin typeface="Calibri"/>
                <a:ea typeface="Calibri"/>
                <a:cs typeface="Calibri"/>
              </a:rPr>
              <a:t>Lloyd Institute of Engineering &amp; Technology, Greater Noida</a:t>
            </a:r>
            <a:endParaRPr sz="13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0657955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905</Words>
  <Application>Microsoft Office PowerPoint</Application>
  <DocSecurity>0</DocSecurity>
  <PresentationFormat>Widescreen</PresentationFormat>
  <Paragraphs>192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Happy Dedha</cp:lastModifiedBy>
  <cp:revision>1</cp:revision>
  <dcterms:created xsi:type="dcterms:W3CDTF">2026-09-26T04:36:16Z</dcterms:created>
  <dcterms:modified xsi:type="dcterms:W3CDTF">2026-09-26T05:02:25Z</dcterms:modified>
</cp:coreProperties>
</file>